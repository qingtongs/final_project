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动物检测与计数系统</a:t>
            </a:r>
          </a:p>
          <a:p>
            <a:pPr>
              <a:defRPr sz="1600">
                <a:solidFill>
                  <a:srgbClr val="BBD2F0"/>
                </a:solidFill>
                <a:latin typeface="Microsoft YaHei"/>
              </a:defRPr>
            </a:pPr>
            <a:r>
              <a:t>YOLO11s + 自定义20类微调模型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45A9A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动物类别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B9B68"/>
                </a:solidFill>
                <a:latin typeface="Microsoft YaHei"/>
              </a:defRPr>
            </a:pPr>
            <a:r>
              <a:t>0.978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最终 mAP50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3716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8A32"/>
                </a:solidFill>
                <a:latin typeface="Microsoft YaHei"/>
              </a:defRPr>
            </a:pPr>
            <a:r>
              <a:t>90.94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验证评分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033"/>
                </a:solidFill>
                <a:latin typeface="Microsoft YaHei"/>
              </a:defRPr>
            </a:pPr>
            <a:r>
              <a:t>输出格式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520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45A9A"/>
                </a:solidFill>
                <a:latin typeface="Microsoft YaHei"/>
              </a:defRPr>
            </a:pPr>
            <a:r>
              <a:t>{"cat": 2, "duck": 1, "deer": 1}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2062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Microsoft YaHei"/>
              </a:defRPr>
            </a:pPr>
            <a:r>
              <a:t>▸ 单张图片输入 → 干净的字典输出</a:t>
            </a:r>
          </a:p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Microsoft YaHei"/>
              </a:defRPr>
            </a:pPr>
            <a:r>
              <a:t>▸ 仅保留支持的动物类别</a:t>
            </a:r>
          </a:p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Microsoft YaHei"/>
              </a:defRPr>
            </a:pPr>
            <a:r>
              <a:t>▸ 经检测过滤和重复抑制后计数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YOLO11s 动物检测与计数 | 深度学习期末项目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任务要求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Microsoft YaHei"/>
              </a:defRPr>
            </a:pPr>
            <a:r>
              <a:t>结构化的检测到字典转换问题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Microsoft YaHei"/>
              </a:defRPr>
            </a:pPr>
            <a:r>
              <a:t>检测器需同时满足视觉识别和严格的JSON格式要求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1828800" cy="73152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Microsoft YaHei"/>
              </a:defRPr>
            </a:pPr>
            <a:r>
              <a:t>步骤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906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发现并定位每个动物实例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2377440"/>
            <a:ext cx="1828800" cy="73152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A6B8"/>
                </a:solidFill>
                <a:latin typeface="Microsoft YaHei"/>
              </a:defRPr>
            </a:pPr>
            <a: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过滤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906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仅保留20个允许的动物类别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2377440"/>
            <a:ext cx="1828800" cy="73152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8A32"/>
                </a:solidFill>
                <a:latin typeface="Microsoft YaHei"/>
              </a:defRPr>
            </a:pPr>
            <a:r>
              <a:t>步骤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抑制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0906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移除重复预测框后再计数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2377440"/>
            <a:ext cx="1828800" cy="73152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B9B68"/>
                </a:solidFill>
                <a:latin typeface="Microsoft YaHei"/>
              </a:defRPr>
            </a:pPr>
            <a:r>
              <a:t>步骤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计数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0906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按类别标签分组统计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37744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2377440"/>
            <a:ext cx="1828800" cy="73152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25420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4F4F"/>
                </a:solidFill>
                <a:latin typeface="Microsoft YaHei"/>
              </a:defRPr>
            </a:pPr>
            <a:r>
              <a:t>步骤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7889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导出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0906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将批量结果写入JSON字典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033"/>
                </a:solidFill>
                <a:latin typeface="Microsoft YaHei"/>
              </a:defRPr>
            </a:pPr>
            <a:r>
              <a:t>评分重点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5720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Microsoft YaHei"/>
              </a:defRPr>
            </a:pPr>
            <a:r>
              <a:t>▸ 类别召回率：是否每个真实物种都被检测到？</a:t>
            </a:r>
          </a:p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Microsoft YaHei"/>
              </a:defRPr>
            </a:pPr>
            <a:r>
              <a:t>▸ 计数准确性：每个类别的计数是否正确？</a:t>
            </a:r>
          </a:p>
          <a:p>
            <a:pPr>
              <a:spcAft>
                <a:spcPts val="600"/>
              </a:spcAft>
              <a:defRPr sz="1400">
                <a:solidFill>
                  <a:srgbClr val="172033"/>
                </a:solidFill>
                <a:latin typeface="Microsoft YaHei"/>
              </a:defRPr>
            </a:pPr>
            <a:r>
              <a:t>▸ 误报惩罚：每个额外的错误类别扣5分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77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Microsoft YaHei"/>
              </a:defRPr>
            </a:pPr>
            <a:r>
              <a:t>评估指标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Microsoft YaHei"/>
              </a:defRPr>
            </a:pPr>
            <a:r>
              <a:t>格式有效性 | 类别精确度 | 类别召回率 | 计数准确度 | 整体响应质量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YOLO11s 动物检测与计数 | 深度学习期末项目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数据集构建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Microsoft YaHei"/>
              </a:defRPr>
            </a:pPr>
            <a:r>
              <a:t>分阶段扩展训练数据，保留完整20类词汇表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Microsoft YaHei"/>
              </a:defRPr>
            </a:pPr>
            <a:r>
              <a:t>每个微调阶段均保留20类输出头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4864" cy="594360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5A9A"/>
                </a:solidFill>
                <a:latin typeface="Microsoft YaHei"/>
              </a:defRPr>
            </a:pPr>
            <a:r>
              <a:t>1. 合并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Microsoft YaHei"/>
              </a:defRPr>
            </a:pPr>
            <a:r>
              <a:t>xfz + yzy 数据集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将标签转换为JSON格式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54864" cy="5943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2A6B8"/>
                </a:solidFill>
                <a:latin typeface="Microsoft YaHei"/>
              </a:defRPr>
            </a:pPr>
            <a:r>
              <a:t>2. 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Microsoft YaHei"/>
              </a:defRPr>
            </a:pPr>
            <a:r>
              <a:t>animal_dataset1 (20类)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20类YOLO基线模型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54864" cy="594360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8A32"/>
                </a:solidFill>
                <a:latin typeface="Microsoft YaHei"/>
              </a:defRPr>
            </a:pPr>
            <a:r>
              <a:t>3. 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Microsoft YaHei"/>
              </a:defRPr>
            </a:pPr>
            <a:r>
              <a:t>animal_dataset_5sp_v1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针对狼/鹅/马/牛/猴弱类别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54880"/>
            <a:ext cx="10607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54864" cy="594360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B9B68"/>
                </a:solidFill>
                <a:latin typeface="Microsoft YaHei"/>
              </a:defRPr>
            </a:pPr>
            <a:r>
              <a:t>4. 继续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Microsoft YaHei"/>
              </a:defRPr>
            </a:pPr>
            <a:r>
              <a:t>animal_dataset_6sp_v1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892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从最佳模型继续优化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Microsoft YaHei"/>
              </a:defRPr>
            </a:pPr>
            <a:r>
              <a:t>标签格式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LabelMe风格JSON（标注审查）→ YOLO TXT格式（训练）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YOLO11s 动物检测与计数 | 深度学习期末项目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模型流程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Microsoft YaHei"/>
              </a:defRPr>
            </a:pPr>
            <a:r>
              <a:t>YOLO推理与任务特定后处理相结合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Microsoft YaHei"/>
              </a:defRPr>
            </a:pPr>
            <a:r>
              <a:t>后处理层至关重要，因为评分目标是字典而非边界框列表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828800" cy="73152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Microsoft YaHei"/>
              </a:defRPr>
            </a:pPr>
            <a:r>
              <a:t>步骤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YOLO11s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992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COCO预训练检测器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2286000"/>
            <a:ext cx="1828800" cy="73152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2A6B8"/>
                </a:solidFill>
                <a:latin typeface="Microsoft YaHei"/>
              </a:defRPr>
            </a:pPr>
            <a: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微调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992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dataset1 → 5sp → 6sp 三阶段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2286000"/>
            <a:ext cx="1828800" cy="73152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B9B68"/>
                </a:solidFill>
                <a:latin typeface="Microsoft YaHei"/>
              </a:defRPr>
            </a:pPr>
            <a:r>
              <a:t>步骤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白名单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9992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仅保留20个支持标签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2286000"/>
            <a:ext cx="1828800" cy="73152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8A32"/>
                </a:solidFill>
                <a:latin typeface="Microsoft YaHei"/>
              </a:defRPr>
            </a:pPr>
            <a:r>
              <a:t>步骤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NMS+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9992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平衡式近距框抑制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286000"/>
            <a:ext cx="1828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60" y="2286000"/>
            <a:ext cx="1828800" cy="73152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2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4F4F"/>
                </a:solidFill>
                <a:latin typeface="Microsoft YaHei"/>
              </a:defRPr>
            </a:pPr>
            <a:r>
              <a:t>步骤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6974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9992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仅输出正计数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033"/>
                </a:solidFill>
                <a:latin typeface="Microsoft YaHei"/>
              </a:defRPr>
            </a:pPr>
            <a:r>
              <a:t>训练配置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343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CUDA环境：NVIDIA RTX 3070 Ti 笔记本GPU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图像尺寸640，批次大小8，冻结前10层，早停耐心值15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数据增强：HSV抖动、平移、缩放、翻转、马赛克、轻量mixup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优化器：AdamW，初始学习率0.0005，权重衰减0.0005，预热3轮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YOLO11s 动物检测与计数 | 深度学习期末项目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训练结果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Microsoft YaHei"/>
              </a:defRPr>
            </a:pPr>
            <a:r>
              <a:t>最终微调快速收敛，第2轮被选为最佳模型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Microsoft YaHei"/>
              </a:defRPr>
            </a:pPr>
            <a:r>
              <a:t>验证指标保持高位，后期轮次无持续提升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9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45A9A"/>
                </a:solidFill>
                <a:latin typeface="Microsoft YaHei"/>
              </a:defRPr>
            </a:pPr>
            <a:r>
              <a:t>0.963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精确率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B9B68"/>
                </a:solidFill>
                <a:latin typeface="Microsoft YaHei"/>
              </a:defRPr>
            </a:pPr>
            <a:r>
              <a:t>0.977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召回率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8A32"/>
                </a:solidFill>
                <a:latin typeface="Microsoft YaHei"/>
              </a:defRPr>
            </a:pPr>
            <a:r>
              <a:t>0.978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mAP50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393192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4069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94F4F"/>
                </a:solidFill>
                <a:latin typeface="Microsoft YaHei"/>
              </a:defRPr>
            </a:pPr>
            <a:r>
              <a:t>0.940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mAP50-95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669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E6A7D"/>
                </a:solidFill>
                <a:latin typeface="Microsoft YaHei"/>
              </a:defRPr>
            </a:pPr>
            <a:r>
              <a:t>最佳模型：runs/detect/.../animal_dataset_6sp_20cls_finetune/weights/best.pt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033"/>
                </a:solidFill>
                <a:latin typeface="Microsoft YaHei"/>
              </a:defRPr>
            </a:pPr>
            <a:r>
              <a:t>训练阶段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Microsoft YaHei"/>
              </a:defRPr>
            </a:pPr>
            <a:r>
              <a:t>阶段1: animal_dataset1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基于 COCO预训练权重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62179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Microsoft YaHei"/>
              </a:defRPr>
            </a:pPr>
            <a:r>
              <a:t>阶段2: animal_dataset_5sp_v1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6400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基于 阶段1 best.pt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2179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45A9A"/>
                </a:solidFill>
                <a:latin typeface="Microsoft YaHei"/>
              </a:defRPr>
            </a:pPr>
            <a:r>
              <a:t>阶段3: animal_dataset_6sp_v1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64008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基于 阶段2 best.pt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YOLO11s 动物检测与计数 | 深度学习期末项目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验证结果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Microsoft YaHei"/>
              </a:defRPr>
            </a:pPr>
            <a:r>
              <a:t>平衡式抑制策略：平均验证评分 90.94/100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Microsoft YaHei"/>
              </a:defRPr>
            </a:pPr>
            <a:r>
              <a:t>剩余错误集中在易混淆的禽类和犬科类别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28A32"/>
                </a:solidFill>
                <a:latin typeface="Microsoft YaHei"/>
              </a:defRPr>
            </a:pPr>
            <a:r>
              <a:t>90.94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平均分 /100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B9B68"/>
                </a:solidFill>
                <a:latin typeface="Microsoft YaHei"/>
              </a:defRPr>
            </a:pPr>
            <a:r>
              <a:t>9/15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满分图片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423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45A9A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验证集图片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Microsoft YaHei"/>
              </a:defRPr>
            </a:pPr>
            <a:r>
              <a:t>逐图评分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eval_001384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4443983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4443983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43891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89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eval_001388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4443983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4443983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21640" y="438912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81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eval_001431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736592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4736592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46817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681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val_4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4736592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4736592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121640" y="46817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743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val_5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5029199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0" y="5029199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49743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9743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val_6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5029199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0" y="5029199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121640" y="497433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266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val_7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5321807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0" y="5321807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52669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266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val_8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5321807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0" y="5321807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121640" y="52669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559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val_10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5614416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0" y="5614416"/>
            <a:ext cx="4572000" cy="14630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52360" y="55595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9B68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55595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eval_001391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5614416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12480" y="5614416"/>
            <a:ext cx="3809847" cy="146304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121640" y="555955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8A32"/>
                </a:solidFill>
                <a:latin typeface="Microsoft YaHei"/>
              </a:defRPr>
            </a:pPr>
            <a:r>
              <a:t>83.3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852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val_1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5907024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0" y="5907024"/>
            <a:ext cx="3429000" cy="146304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52360" y="58521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8A32"/>
                </a:solidFill>
                <a:latin typeface="Microsoft YaHei"/>
              </a:defRPr>
            </a:pPr>
            <a:r>
              <a:t>75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58521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val_2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5907024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12480" y="5907024"/>
            <a:ext cx="2819552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121640" y="585216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Microsoft YaHei"/>
              </a:defRPr>
            </a:pPr>
            <a:r>
              <a:t>61.7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1447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val_9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6199631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43200" y="6199631"/>
            <a:ext cx="2819552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52360" y="6144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Microsoft YaHei"/>
              </a:defRPr>
            </a:pPr>
            <a:r>
              <a:t>61.7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61447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eval_001402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12480" y="6199631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412480" y="6199631"/>
            <a:ext cx="2286000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121640" y="61447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Microsoft YaHei"/>
              </a:defRPr>
            </a:pPr>
            <a:r>
              <a:t>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4373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72033"/>
                </a:solidFill>
                <a:latin typeface="Microsoft YaHei"/>
              </a:defRPr>
            </a:pPr>
            <a:r>
              <a:t>val_3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0" y="6492240"/>
            <a:ext cx="4572000" cy="146304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743200" y="6492240"/>
            <a:ext cx="2286000" cy="14630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52360" y="643737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4F4F"/>
                </a:solidFill>
                <a:latin typeface="Microsoft YaHei"/>
              </a:defRPr>
            </a:pPr>
            <a:r>
              <a:t>50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8096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033"/>
                </a:solidFill>
                <a:latin typeface="Microsoft YaHei"/>
              </a:defRPr>
            </a:pPr>
            <a:r>
              <a:t>主要错误类型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80960" y="28346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漏检（如 val_1 中的狐狸）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类别混淆：鸭 ↔ 鹅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类别混淆：狐狸/狼/狗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额外的误报类别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遮挡场景中的计数错误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YOLO11s 动物检测与计数 | 深度学习期末项目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可视化输出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Microsoft YaHei"/>
              </a:defRPr>
            </a:pPr>
            <a:r>
              <a:t>验证集图片标注了边界框和置信度分数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A7D"/>
                </a:solidFill>
                <a:latin typeface="Microsoft YaHei"/>
              </a:defRPr>
            </a:pPr>
            <a:r>
              <a:t>显示框和JSON计数使用相同的后处理逻辑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033"/>
                </a:solidFill>
                <a:latin typeface="Microsoft YaHei"/>
              </a:defRPr>
            </a:pPr>
            <a:r>
              <a:t>后处理规则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同类别：IoU高或中心距近且尺寸相似时合并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跨类别：仅在很可能覆盖同一目标时合并（更严格阈值）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在重复检测中保留置信度最高的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平衡模式：减少重复但不激进删除邻近动物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5A9A"/>
                </a:solidFill>
                <a:latin typeface="Microsoft YaHei"/>
              </a:defRPr>
            </a:pPr>
            <a:r>
              <a:t>输出目录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49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E6A7D"/>
                </a:solidFill>
                <a:latin typeface="Microsoft YaHei"/>
              </a:defRPr>
            </a:pPr>
            <a:r>
              <a:t>outputs/val_set_annotated_6sp_20cls_finetuned_suppressed_balanced/</a:t>
            </a:r>
            <a:br/>
            <a:r>
              <a:t>  annotated/  ← 带框图片</a:t>
            </a:r>
            <a:br/>
            <a:r>
              <a:t>  detections_with_boxes.json  ← 完整检测元数据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YOLO11s 动物检测与计数 | 深度学习期末项目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分析与挑战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Microsoft YaHei"/>
              </a:defRPr>
            </a:pPr>
            <a:r>
              <a:t>深入分析模型行为和遗留问题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566160" cy="5486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B9B68"/>
                </a:solidFill>
                <a:latin typeface="Microsoft YaHei"/>
              </a:defRPr>
            </a:pPr>
            <a:r>
              <a:t>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大型特征明显动物检测良好（斑马、长颈鹿等）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高 mAP50 (0.978) 和 mAP50-95 (0.940)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三阶段微调改善了弱类别表现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干净的JSON输出格式，无自然语言解释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566160" cy="54864"/>
          </a:xfrm>
          <a:prstGeom prst="rect">
            <a:avLst/>
          </a:prstGeom>
          <a:solidFill>
            <a:srgbClr val="C9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4F4F"/>
                </a:solidFill>
                <a:latin typeface="Microsoft YaHei"/>
              </a:defRPr>
            </a:pPr>
            <a:r>
              <a:t>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鸭与鹅混淆（体型和颜色相似）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狐狸/狼/狗混淆（纹理和姿态相似）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遮挡和密集排列动物处理困难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合成场景到真实场景可能存在域差距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566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011680"/>
            <a:ext cx="3566160" cy="54864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45A9A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自定义后处理进行重复框抑制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针对弱类别数据集定向微调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平衡阈值避免激进过滤</a:t>
            </a:r>
          </a:p>
          <a:p>
            <a:pPr>
              <a:spcAft>
                <a:spcPts val="600"/>
              </a:spcAft>
              <a:defRPr sz="1100">
                <a:solidFill>
                  <a:srgbClr val="172033"/>
                </a:solidFill>
                <a:latin typeface="Microsoft YaHei"/>
              </a:defRPr>
            </a:pPr>
            <a:r>
              <a:t>▸ 全程保持20类输出头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D9EAF7"/>
          </a:solidFill>
          <a:ln w="12700">
            <a:solidFill>
              <a:srgbClr val="245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5A9A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微调时保持20类输出避免了词汇丢失，同时改善了弱类别表现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平衡后处理（同类别IoU=0.40，跨类别IoU=0.62）减少重复但未损害召回率</a:t>
            </a:r>
          </a:p>
          <a:p>
            <a:pPr>
              <a:spcAft>
                <a:spcPts val="600"/>
              </a:spcAft>
              <a:defRPr sz="1200">
                <a:solidFill>
                  <a:srgbClr val="172033"/>
                </a:solidFill>
                <a:latin typeface="Microsoft YaHei"/>
              </a:defRPr>
            </a:pPr>
            <a:r>
              <a:t>▸ 评分规则对误报类别惩罚严厉（每类5分）→ 需要保守的阈值调优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YOLO11s 动物检测与计数 | 深度学习期末项目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" cy="137160"/>
          </a:xfrm>
          <a:prstGeom prst="rect">
            <a:avLst/>
          </a:prstGeom>
          <a:solidFill>
            <a:srgbClr val="32A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团队贡献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72033"/>
                </a:solidFill>
                <a:latin typeface="Microsoft YaHei"/>
              </a:defRPr>
            </a:pPr>
            <a:r>
              <a:t>每位成员在项目中的角色与贡献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566160" cy="54864"/>
          </a:xfrm>
          <a:prstGeom prst="rect">
            <a:avLst/>
          </a:prstGeom>
          <a:solidFill>
            <a:srgbClr val="245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5A9A"/>
                </a:solidFill>
                <a:latin typeface="Microsoft YaHei"/>
              </a:defRPr>
            </a:pPr>
            <a:r>
              <a:t>成员1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学号: 待填写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320040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数据集收集与合并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LabelMe JSON标注流程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验证数据组织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数据预处理脚本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103120"/>
            <a:ext cx="3566160" cy="54864"/>
          </a:xfrm>
          <a:prstGeom prst="rect">
            <a:avLst/>
          </a:prstGeom>
          <a:solidFill>
            <a:srgbClr val="4B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B9B68"/>
                </a:solidFill>
                <a:latin typeface="Microsoft YaHei"/>
              </a:defRPr>
            </a:pPr>
            <a:r>
              <a:t>成员2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学号: 待填写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26080"/>
            <a:ext cx="320040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0632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YOLO模型训练与微调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CUDA环境配置与优化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模型指标跟踪与选型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超参数调优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10312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103120"/>
            <a:ext cx="3566160" cy="54864"/>
          </a:xfrm>
          <a:prstGeom prst="rect">
            <a:avLst/>
          </a:prstGeom>
          <a:solidFill>
            <a:srgbClr val="E28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8A32"/>
                </a:solidFill>
                <a:latin typeface="Microsoft YaHei"/>
              </a:defRPr>
            </a:pPr>
            <a:r>
              <a:t>成员3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06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A7D"/>
                </a:solidFill>
                <a:latin typeface="Microsoft YaHei"/>
              </a:defRPr>
            </a:pPr>
            <a:r>
              <a:t>学号: 待填写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926080"/>
            <a:ext cx="320040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632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评估与推理脚本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重复框后处理算法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报告、PPT与文档撰写</a:t>
            </a:r>
          </a:p>
          <a:p>
            <a:pPr>
              <a:spcAft>
                <a:spcPts val="600"/>
              </a:spcAft>
              <a:defRPr sz="1300">
                <a:solidFill>
                  <a:srgbClr val="172033"/>
                </a:solidFill>
                <a:latin typeface="Microsoft YaHei"/>
              </a:defRPr>
            </a:pPr>
            <a:r>
              <a:t>▸ 错误分析与验证评分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YOLO11s 动物检测与计数 | 深度学习期末项目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CE8F8"/>
                </a:solidFill>
                <a:latin typeface="Microsoft YaHei"/>
              </a:defRPr>
            </a:pPr>
            <a:r>
              <a:t>可复现的基于YOLO的动物计数系统，涵盖数据准备、微调、验证评分、JSON导出和可视化标注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3566160" cy="347472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35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B9B68"/>
                </a:solidFill>
                <a:latin typeface="Microsoft YaHei"/>
              </a:defRPr>
            </a:pPr>
            <a:r>
              <a:t>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▸ 20个动物类别 mAP50 达 0.978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▸ 15张验证集评分 90.94/100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▸ 干净的字典格式JSON输出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▸ 完整的代码+报告+PPT交付物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560320"/>
            <a:ext cx="3566160" cy="347472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35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8A32"/>
                </a:solidFill>
                <a:latin typeface="Microsoft YaHei"/>
              </a:defRPr>
            </a:pPr>
            <a:r>
              <a:t>局限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▸ 鸭/鹅和狐狸/狼/狗的混淆仍然存在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▸ 遮挡和密集排列导致计数错误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▸ 合成到真实场景可能存在域差距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560320"/>
            <a:ext cx="3566160" cy="3474720"/>
          </a:xfrm>
          <a:prstGeom prst="roundRect">
            <a:avLst/>
          </a:prstGeom>
          <a:solidFill>
            <a:srgbClr val="142A46"/>
          </a:solidFill>
          <a:ln w="12700">
            <a:solidFill>
              <a:srgbClr val="355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743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45A9A"/>
                </a:solidFill>
                <a:latin typeface="Microsoft YaHei"/>
              </a:defRPr>
            </a:pPr>
            <a:r>
              <a:t>后续工作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▸ 增加弱类别的人工验证难例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▸ 以更严格审查继续定向微调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▸ 探索测试时增强提升鲁棒性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▸ 改善鸭/鹅区分特征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2F0"/>
                </a:solidFill>
                <a:latin typeface="Microsoft YaHei"/>
              </a:defRPr>
            </a:pPr>
            <a:r>
              <a:t>最终交付物：报告 | PPT | 源代码 | 评估JSON | 标注图片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46520"/>
            <a:ext cx="11247120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E6A7D"/>
                </a:solidFill>
                <a:latin typeface="Microsoft YaHei"/>
              </a:defRPr>
            </a:pPr>
            <a:r>
              <a:t>YOLO11s 动物检测与计数 | 深度学习期末项目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45A9A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