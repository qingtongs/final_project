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Animal Detection</a:t>
            </a:r>
            <a:br/>
            <a:r>
              <a:t>and Counting</a:t>
            </a:r>
          </a:p>
          <a:p>
            <a:pPr>
              <a:defRPr sz="1600">
                <a:solidFill>
                  <a:srgbClr val="BBD2F0"/>
                </a:solidFill>
                <a:latin typeface="Arial"/>
              </a:defRPr>
            </a:pPr>
            <a:r>
              <a:t>YOLO11s + Custom 20-Class Fine-Tuning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08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45A9A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Animal Categories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3716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508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B9B68"/>
                </a:solidFill>
                <a:latin typeface="Arial"/>
              </a:defRPr>
            </a:pPr>
            <a:r>
              <a:t>0.978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Final mAP50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13716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1508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28A32"/>
                </a:solidFill>
                <a:latin typeface="Arial"/>
              </a:defRPr>
            </a:pPr>
            <a:r>
              <a:t>90.94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Validation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2033"/>
                </a:solidFill>
                <a:latin typeface="Arial"/>
              </a:defRPr>
            </a:pPr>
            <a:r>
              <a:t>Output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520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45A9A"/>
                </a:solidFill>
                <a:latin typeface="Arial"/>
              </a:defRPr>
            </a:pPr>
            <a:r>
              <a:t>{"cat": 2, "duck": 1, "deer": 1}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2062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72033"/>
                </a:solidFill>
                <a:latin typeface="Arial"/>
              </a:defRPr>
            </a:pPr>
            <a:r>
              <a:t>▸ One image in → one clean dictionary out</a:t>
            </a:r>
          </a:p>
          <a:p>
            <a:pPr>
              <a:spcAft>
                <a:spcPts val="600"/>
              </a:spcAft>
              <a:defRPr sz="1400">
                <a:solidFill>
                  <a:srgbClr val="172033"/>
                </a:solidFill>
                <a:latin typeface="Arial"/>
              </a:defRPr>
            </a:pPr>
            <a:r>
              <a:t>▸ Only supported animal categories are retained</a:t>
            </a:r>
          </a:p>
          <a:p>
            <a:pPr>
              <a:spcAft>
                <a:spcPts val="600"/>
              </a:spcAft>
              <a:defRPr sz="1400">
                <a:solidFill>
                  <a:srgbClr val="172033"/>
                </a:solidFill>
                <a:latin typeface="Arial"/>
              </a:defRPr>
            </a:pPr>
            <a:r>
              <a:t>▸ Counts generated after filtering &amp; duplicate suppression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Arial"/>
              </a:defRPr>
            </a:pPr>
            <a:r>
              <a:t>TASK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033"/>
                </a:solidFill>
                <a:latin typeface="Arial"/>
              </a:defRPr>
            </a:pPr>
            <a:r>
              <a:t>Structured Detection-to-Dictionary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Arial"/>
              </a:defRPr>
            </a:pPr>
            <a:r>
              <a:t>The detector must satisfy both visual recognition and strict JSON formatting.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1828800" cy="73152"/>
          </a:xfrm>
          <a:prstGeom prst="rect">
            <a:avLst/>
          </a:prstGeom>
          <a:solidFill>
            <a:srgbClr val="24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420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5A9A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906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Find &amp; localize every animal instance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37744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2377440"/>
            <a:ext cx="1828800" cy="73152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5420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A6B8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88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906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Keep only 20 allowed animal categories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37744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2377440"/>
            <a:ext cx="1828800" cy="73152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25420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8A32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788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Suppress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0906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Remove duplicate predictions before counting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37744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80" y="2377440"/>
            <a:ext cx="1828800" cy="73152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5420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B9B68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788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0906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Group remaining boxes by class label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237744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2377440"/>
            <a:ext cx="1828800" cy="73152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25420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4F4F"/>
                </a:solidFill>
                <a:latin typeface="Arial"/>
              </a:defRPr>
            </a:pPr>
            <a:r>
              <a:t>Step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2788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30906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Write batch results as JSON dictionaries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2033"/>
                </a:solidFill>
                <a:latin typeface="Arial"/>
              </a:defRPr>
            </a:pPr>
            <a:r>
              <a:t>Scoring Focus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5720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72033"/>
                </a:solidFill>
                <a:latin typeface="Arial"/>
              </a:defRPr>
            </a:pPr>
            <a:r>
              <a:t>▸ Category recall: does every true species appear?</a:t>
            </a:r>
          </a:p>
          <a:p>
            <a:pPr>
              <a:spcAft>
                <a:spcPts val="600"/>
              </a:spcAft>
              <a:defRPr sz="1400">
                <a:solidFill>
                  <a:srgbClr val="172033"/>
                </a:solidFill>
                <a:latin typeface="Arial"/>
              </a:defRPr>
            </a:pPr>
            <a:r>
              <a:t>▸ Counting accuracy: is each class count correct?</a:t>
            </a:r>
          </a:p>
          <a:p>
            <a:pPr>
              <a:spcAft>
                <a:spcPts val="600"/>
              </a:spcAft>
              <a:defRPr sz="1400">
                <a:solidFill>
                  <a:srgbClr val="172033"/>
                </a:solidFill>
                <a:latin typeface="Arial"/>
              </a:defRPr>
            </a:pPr>
            <a:r>
              <a:t>▸ False positives: each extra wrong category costs 5 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Arial"/>
              </a:defRPr>
            </a:pPr>
            <a:r>
              <a:t>Evaluation Metrics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E6A7D"/>
                </a:solidFill>
                <a:latin typeface="Arial"/>
              </a:defRPr>
            </a:pPr>
            <a:r>
              <a:t>Format Validity | Category Precision | Category Recall | Counting Accuracy | Overall Response Quality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Arial"/>
              </a:defRPr>
            </a:pPr>
            <a:r>
              <a:t>DATASET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033"/>
                </a:solidFill>
                <a:latin typeface="Arial"/>
              </a:defRPr>
            </a:pPr>
            <a:r>
              <a:t>Training Data Expanded in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Arial"/>
              </a:defRPr>
            </a:pPr>
            <a:r>
              <a:t>Every fine-tuning stage preserved the 20-class output 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0607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54864" cy="594360"/>
          </a:xfrm>
          <a:prstGeom prst="rect">
            <a:avLst/>
          </a:prstGeom>
          <a:solidFill>
            <a:srgbClr val="24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5A9A"/>
                </a:solidFill>
                <a:latin typeface="Arial"/>
              </a:defRPr>
            </a:pPr>
            <a:r>
              <a:t>1. Merge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Arial"/>
              </a:defRPr>
            </a:pPr>
            <a:r>
              <a:t>xfz + yzy 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Arial"/>
              </a:defRPr>
            </a:pPr>
            <a:r>
              <a:t>Convert labels to JSON format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10607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54864" cy="5943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A6B8"/>
                </a:solidFill>
                <a:latin typeface="Arial"/>
              </a:defRPr>
            </a:pPr>
            <a:r>
              <a:t>2. 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Arial"/>
              </a:defRPr>
            </a:pPr>
            <a:r>
              <a:t>animal_dataset1 (20cls)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Arial"/>
              </a:defRPr>
            </a:pPr>
            <a:r>
              <a:t>20-class YOLO baseline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10607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54864" cy="594360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8A32"/>
                </a:solidFill>
                <a:latin typeface="Arial"/>
              </a:defRPr>
            </a:pPr>
            <a:r>
              <a:t>3. Improve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Arial"/>
              </a:defRPr>
            </a:pPr>
            <a:r>
              <a:t>animal_dataset_5sp_v1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069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Arial"/>
              </a:defRPr>
            </a:pPr>
            <a:r>
              <a:t>Target: wolf/goose/horse/cow/monkey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54880"/>
            <a:ext cx="10607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754880"/>
            <a:ext cx="54864" cy="594360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B9B68"/>
                </a:solidFill>
                <a:latin typeface="Arial"/>
              </a:defRPr>
            </a:pPr>
            <a:r>
              <a:t>4. Continue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Arial"/>
              </a:defRPr>
            </a:pPr>
            <a:r>
              <a:t>animal_dataset_6sp_v1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892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Arial"/>
              </a:defRPr>
            </a:pPr>
            <a:r>
              <a:t>Optimization from best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Arial"/>
              </a:defRPr>
            </a:pPr>
            <a:r>
              <a:t>Label Format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Arial"/>
              </a:defRPr>
            </a:pPr>
            <a:r>
              <a:t>LabelMe-style JSON for annotation review → YOLO TXT format for training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Arial"/>
              </a:defRPr>
            </a:pPr>
            <a:r>
              <a:t>MODEL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033"/>
                </a:solidFill>
                <a:latin typeface="Arial"/>
              </a:defRPr>
            </a:pPr>
            <a:r>
              <a:t>YOLO Inference + Task-Specific Post-Processing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Arial"/>
              </a:defRPr>
            </a:pPr>
            <a:r>
              <a:t>Post-processing is critical because grading targets a dictionary, not a box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1828800" cy="73152"/>
          </a:xfrm>
          <a:prstGeom prst="rect">
            <a:avLst/>
          </a:prstGeom>
          <a:solidFill>
            <a:srgbClr val="24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505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5A9A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YOLO11s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992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COCO pre-trained detector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2860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2286000"/>
            <a:ext cx="1828800" cy="73152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4505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A6B8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6974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Fine-tune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9992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dataset1 → 5sp → 6sp stages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2860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2286000"/>
            <a:ext cx="1828800" cy="73152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24505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B9B68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6974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Whitelist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9992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20 supported labels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2860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80" y="2286000"/>
            <a:ext cx="1828800" cy="73152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4505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8A32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6974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NMS+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9992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Balanced close-box suppression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22860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2286000"/>
            <a:ext cx="1828800" cy="73152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24505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4F4F"/>
                </a:solidFill>
                <a:latin typeface="Arial"/>
              </a:defRPr>
            </a:pPr>
            <a:r>
              <a:t>Step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26974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9992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Positive counts only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033"/>
                </a:solidFill>
                <a:latin typeface="Arial"/>
              </a:defRPr>
            </a:pPr>
            <a:r>
              <a:t>Training Configuration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343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Arial"/>
              </a:defRPr>
            </a:pPr>
            <a:r>
              <a:t>▸ CUDA: NVIDIA RTX 3070 Ti Laptop GPU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Arial"/>
              </a:defRPr>
            </a:pPr>
            <a:r>
              <a:t>▸ imgsz=640, batch=8, freeze=10, patience=15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Arial"/>
              </a:defRPr>
            </a:pPr>
            <a:r>
              <a:t>▸ Augmentations: HSV jitter, translation, scale, flip, mosaic, light mixup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Arial"/>
              </a:defRPr>
            </a:pPr>
            <a:r>
              <a:t>▸ Optimizer: AdamW, lr0=0.0005, weight_decay=0.0005, warmup_epochs=3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Arial"/>
              </a:defRPr>
            </a:pPr>
            <a:r>
              <a:t>TRAINING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033"/>
                </a:solidFill>
                <a:latin typeface="Arial"/>
              </a:defRPr>
            </a:pPr>
            <a:r>
              <a:t>Final Fine-Tuning Converged Quickly; Epoch 2 Selected as Best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Arial"/>
              </a:defRPr>
            </a:pPr>
            <a:r>
              <a:t>Validation metrics remained high while later epochs showed no sustained improvement.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2860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9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45A9A"/>
                </a:solidFill>
                <a:latin typeface="Arial"/>
              </a:defRPr>
            </a:pPr>
            <a:r>
              <a:t>0.963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22860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B9B68"/>
                </a:solidFill>
                <a:latin typeface="Arial"/>
              </a:defRPr>
            </a:pPr>
            <a:r>
              <a:t>0.977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4069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28A32"/>
                </a:solidFill>
                <a:latin typeface="Arial"/>
              </a:defRPr>
            </a:pPr>
            <a:r>
              <a:t>0.978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mAP50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393192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4069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94F4F"/>
                </a:solidFill>
                <a:latin typeface="Arial"/>
              </a:defRPr>
            </a:pPr>
            <a:r>
              <a:t>0.940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mAP50-95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669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Best: runs/detect/.../animal_dataset_6sp_20cls_finetune/weights/best.pt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Training Stages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5A9A"/>
                </a:solidFill>
                <a:latin typeface="Arial"/>
              </a:defRPr>
            </a:pPr>
            <a:r>
              <a:t>Stage 1: animal_dataset1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From COCO pre-trained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62179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5A9A"/>
                </a:solidFill>
                <a:latin typeface="Arial"/>
              </a:defRPr>
            </a:pPr>
            <a:r>
              <a:t>Stage 2: animal_dataset_5sp_v1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64008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From Stage 1 best.pt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62179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5A9A"/>
                </a:solidFill>
                <a:latin typeface="Arial"/>
              </a:defRPr>
            </a:pPr>
            <a:r>
              <a:t>Stage 3: animal_dataset_6sp_v1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64008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From Stage 2 best.pt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Arial"/>
              </a:defRPr>
            </a:pPr>
            <a:r>
              <a:t>VALIDATION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033"/>
                </a:solidFill>
                <a:latin typeface="Arial"/>
              </a:defRPr>
            </a:pPr>
            <a:r>
              <a:t>Balanced Suppression: 90.94/100 Average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Arial"/>
              </a:defRPr>
            </a:pPr>
            <a:r>
              <a:t>Remaining errors concentrated in confusing bird &amp; canine-like classes.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28A32"/>
                </a:solidFill>
                <a:latin typeface="Arial"/>
              </a:defRPr>
            </a:pPr>
            <a:r>
              <a:t>90.94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Avg Score /100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2860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B9B68"/>
                </a:solidFill>
                <a:latin typeface="Arial"/>
              </a:defRPr>
            </a:pPr>
            <a:r>
              <a:t>9/15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Perfect Images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2860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45A9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Validation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Arial"/>
              </a:defRPr>
            </a:pPr>
            <a:r>
              <a:t>Per-Image 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eval_001384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4443983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4443983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43891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891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eval_001388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4443983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4443983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21640" y="43891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81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eval_001431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4736592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0" y="4736592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46817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681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4736592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80" y="4736592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21640" y="46817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9743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5029199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0" y="5029199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497433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9743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5029199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0" y="5029199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121640" y="497433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2669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5321807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0" y="5321807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60" y="52669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2669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5321807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12480" y="5321807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121640" y="52669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5595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5614416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43200" y="5614416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52360" y="555955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55595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eval_001391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5614416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412480" y="5614416"/>
            <a:ext cx="3809847" cy="146304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121640" y="555955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8A32"/>
                </a:solidFill>
                <a:latin typeface="Arial"/>
              </a:defRPr>
            </a:pPr>
            <a:r>
              <a:t>83.3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8521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5907024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43200" y="5907024"/>
            <a:ext cx="3429000" cy="146304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52360" y="58521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8A32"/>
                </a:solidFill>
                <a:latin typeface="Arial"/>
              </a:defRPr>
            </a:pPr>
            <a:r>
              <a:t>75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58521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5907024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412480" y="5907024"/>
            <a:ext cx="2819552" cy="146304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121640" y="58521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4F4F"/>
                </a:solidFill>
                <a:latin typeface="Arial"/>
              </a:defRPr>
            </a:pPr>
            <a:r>
              <a:t>61.7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1447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0" y="6199631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743200" y="6199631"/>
            <a:ext cx="2819552" cy="146304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52360" y="61447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4F4F"/>
                </a:solidFill>
                <a:latin typeface="Arial"/>
              </a:defRPr>
            </a:pPr>
            <a:r>
              <a:t>61.7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0" y="61447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eval_001402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12480" y="6199631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412480" y="6199631"/>
            <a:ext cx="2286000" cy="146304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121640" y="61447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4F4F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4373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0" y="6492240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743200" y="6492240"/>
            <a:ext cx="2286000" cy="146304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52360" y="643737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4F4F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8096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Arial"/>
              </a:defRPr>
            </a:pPr>
            <a:r>
              <a:t>Main Error Types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80960" y="283464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Missed detections (e.g., fox in val_1)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Class confusion: duck ↔ goose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Class confusion: fox/wolf/dog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Extra false positive categories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Count errors in occluded scenes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Arial"/>
              </a:defRPr>
            </a:pPr>
            <a:r>
              <a:t>VISUAL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033"/>
                </a:solidFill>
                <a:latin typeface="Arial"/>
              </a:defRPr>
            </a:pPr>
            <a:r>
              <a:t>Annotated Validation Images with Boxes &amp; Confidence Scores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Arial"/>
              </a:defRPr>
            </a:pPr>
            <a:r>
              <a:t>Same post-processing logic used for displayed boxes and JSON counts.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033"/>
                </a:solidFill>
                <a:latin typeface="Arial"/>
              </a:defRPr>
            </a:pPr>
            <a:r>
              <a:t>Post-Processing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Same-class: merge when IoU high or centers close with similar size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Cross-class: merge only when likely covering same object (stricter)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Keep highest-confidence detection among duplicates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Balanced mode: reduce duplicates without aggressive deletion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5A9A"/>
                </a:solidFill>
                <a:latin typeface="Arial"/>
              </a:defRPr>
            </a:pPr>
            <a:r>
              <a:t>Output Directory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49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E6A7D"/>
                </a:solidFill>
                <a:latin typeface="Arial"/>
              </a:defRPr>
            </a:pPr>
            <a:r>
              <a:t>outputs/val_set_annotated_6sp_20cls_finetuned_suppressed_balanced/</a:t>
            </a:r>
            <a:br/>
            <a:r>
              <a:t>  annotated/  ← images with boxes</a:t>
            </a:r>
            <a:br/>
            <a:r>
              <a:t>  detections_with_boxes.json  ← full metadata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Arial"/>
              </a:defRPr>
            </a:pPr>
            <a:r>
              <a:t>ANALYSIS &amp;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033"/>
                </a:solidFill>
                <a:latin typeface="Arial"/>
              </a:defRPr>
            </a:pPr>
            <a:r>
              <a:t>Deep Dive into Model Behavior and Remaining Issues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566160" cy="5486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B9B68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Large distinctive animals detected excellently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High mAP50 (0.978) and mAP50-95 (0.940)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Three-stage fine-tuning improved weak classes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Clean JSON output format, no NL explanations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3566160" cy="54864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4F4F"/>
                </a:solidFill>
                <a:latin typeface="Arial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060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Duck ↔ goose confusion (similar body shape &amp; color)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Fox/wolf/dog confusion (similar texture &amp; pose)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Occlusion &amp; tightly grouped animals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Synthetic scene generalization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01168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011680"/>
            <a:ext cx="3566160" cy="54864"/>
          </a:xfrm>
          <a:prstGeom prst="rect">
            <a:avLst/>
          </a:prstGeom>
          <a:solidFill>
            <a:srgbClr val="24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5A9A"/>
                </a:solidFill>
                <a:latin typeface="Arial"/>
              </a:defRPr>
            </a:pPr>
            <a:r>
              <a:t>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Custom post-processing for duplicate suppression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Targeted fine-tuning on weak-class datasets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Balanced thresholds to avoid aggressive filtering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Maintained 20-class head throughout all stages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24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5A9A"/>
                </a:solidFill>
                <a:latin typeface="Arial"/>
              </a:defRPr>
            </a:pPr>
            <a:r>
              <a:t>Key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Maintaining 20-class output during fine-tuning prevented vocabulary loss while improving weak categories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Balanced post-processing (IoU=0.40 same-class, 0.62 cross-class) reduced duplicates without hurting recall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Scoring rule penalizes false positive categories (5 pts each) → conservative threshold tuning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Arial"/>
              </a:defRPr>
            </a:pPr>
            <a:r>
              <a:t>TEAM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033"/>
                </a:solidFill>
                <a:latin typeface="Arial"/>
              </a:defRPr>
            </a:pPr>
            <a:r>
              <a:t>Each Member's Role and Contribution to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5661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566160" cy="54864"/>
          </a:xfrm>
          <a:prstGeom prst="rect">
            <a:avLst/>
          </a:prstGeom>
          <a:solidFill>
            <a:srgbClr val="24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5A9A"/>
                </a:solidFill>
                <a:latin typeface="Arial"/>
              </a:defRPr>
            </a:pPr>
            <a:r>
              <a:t>Member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Arial"/>
              </a:defRPr>
            </a:pPr>
            <a:r>
              <a:t>ID: TBD / 待填写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320040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Dataset collection &amp; merging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LabelMe JSON annotation workflow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Validation data organization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Data preprocessing scripts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03120"/>
            <a:ext cx="35661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103120"/>
            <a:ext cx="3566160" cy="5486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B9B68"/>
                </a:solidFill>
                <a:latin typeface="Arial"/>
              </a:defRPr>
            </a:pPr>
            <a:r>
              <a:t>Member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Arial"/>
              </a:defRPr>
            </a:pPr>
            <a:r>
              <a:t>ID: TBD / 待填写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26080"/>
            <a:ext cx="320040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0632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YOLO model training &amp; fine-tuning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CUDA environment setup &amp; optimization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Model metric tracking &amp; selection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Hyperparameter tuning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103120"/>
            <a:ext cx="35661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103120"/>
            <a:ext cx="3566160" cy="54864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8A32"/>
                </a:solidFill>
                <a:latin typeface="Arial"/>
              </a:defRPr>
            </a:pPr>
            <a:r>
              <a:t>Member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Arial"/>
              </a:defRPr>
            </a:pPr>
            <a:r>
              <a:t>ID: TBD / 待填写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926080"/>
            <a:ext cx="320040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0632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Evaluation &amp; inference scripts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Duplicate-box post-processing algorithm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Report, PPT &amp; documentation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Error analysis &amp; validation scoring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CE8F8"/>
                </a:solidFill>
                <a:latin typeface="Arial"/>
              </a:defRPr>
            </a:pPr>
            <a:r>
              <a:t>A reproducible YOLO-based animal counting system covering data preparation, fine-tuning, validation scoring, JSON export, and visual annotation.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3566160" cy="3474720"/>
          </a:xfrm>
          <a:prstGeom prst="roundRect">
            <a:avLst/>
          </a:prstGeom>
          <a:solidFill>
            <a:srgbClr val="142A46"/>
          </a:solidFill>
          <a:ln w="12700">
            <a:solidFill>
              <a:srgbClr val="355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B9B68"/>
                </a:solidFill>
                <a:latin typeface="Arial"/>
              </a:defRPr>
            </a:pPr>
            <a:r>
              <a:t>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High mAP50 of 0.978 across 20 animal classes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Validation score of 90.94/100 on 15-image set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Clean dictionary-format JSON output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Complete code + report + PPT deliverables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560320"/>
            <a:ext cx="3566160" cy="3474720"/>
          </a:xfrm>
          <a:prstGeom prst="roundRect">
            <a:avLst/>
          </a:prstGeom>
          <a:solidFill>
            <a:srgbClr val="142A46"/>
          </a:solidFill>
          <a:ln w="12700">
            <a:solidFill>
              <a:srgbClr val="355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8A32"/>
                </a:solidFill>
                <a:latin typeface="Arial"/>
              </a:defRPr>
            </a:pPr>
            <a: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2004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Duck/goose and fox/wolf/dog confusions persist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Occlusion &amp; tight grouping cause count errors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Synthetic-to-real domain gap possible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560320"/>
            <a:ext cx="3566160" cy="3474720"/>
          </a:xfrm>
          <a:prstGeom prst="roundRect">
            <a:avLst/>
          </a:prstGeom>
          <a:solidFill>
            <a:srgbClr val="142A46"/>
          </a:solidFill>
          <a:ln w="12700">
            <a:solidFill>
              <a:srgbClr val="355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5A9A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2004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Add manually verified hard examples for weak classes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Continue targeted fine-tuning with stricter review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Explore test-time augmentation for robustness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Improve duck/goose discrimination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09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2F0"/>
                </a:solidFill>
                <a:latin typeface="Arial"/>
              </a:defRPr>
            </a:pPr>
            <a:r>
              <a:t>Final Deliverables: Report | PPT | Source Code | Evaluation JSON | Annotated Images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