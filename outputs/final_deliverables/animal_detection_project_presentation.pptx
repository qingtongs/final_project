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E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Animal Detection</a:t>
            </a:r>
            <a:br/>
            <a:r>
              <a:t>and Counting</a:t>
            </a:r>
          </a:p>
          <a:p>
            <a:pPr>
              <a:defRPr sz="2400">
                <a:solidFill>
                  <a:srgbClr val="BBD2F0"/>
                </a:solidFill>
                <a:latin typeface="Microsoft YaHei"/>
              </a:defRPr>
            </a:pPr>
            <a:r>
              <a:t>动物检测与计数系统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D2F0"/>
                </a:solidFill>
                <a:latin typeface="Arial"/>
              </a:defRPr>
            </a:pPr>
            <a:r>
              <a:t>YOLO11s + Custom 20-Class Fine-Tuning</a:t>
            </a:r>
            <a:br/>
            <a:r>
              <a:t>基于YOLO11s的20类自定义微调模型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371600"/>
            <a:ext cx="2011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15087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45A9A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965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E6A7D"/>
                </a:solidFill>
                <a:latin typeface="Arial"/>
              </a:defRPr>
            </a:pPr>
            <a:r>
              <a:t>Animal Categories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194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E6A7D"/>
                </a:solidFill>
                <a:latin typeface="Arial"/>
              </a:defRPr>
            </a:pPr>
            <a:r>
              <a:t>动物类别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371600"/>
            <a:ext cx="2011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15087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4B9B68"/>
                </a:solidFill>
                <a:latin typeface="Arial"/>
              </a:defRPr>
            </a:pPr>
            <a:r>
              <a:t>0.978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965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E6A7D"/>
                </a:solidFill>
                <a:latin typeface="Arial"/>
              </a:defRPr>
            </a:pPr>
            <a:r>
              <a:t>Final mAP50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194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E6A7D"/>
                </a:solidFill>
                <a:latin typeface="Arial"/>
              </a:defRPr>
            </a:pPr>
            <a:r>
              <a:t>最终mAP50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18320" y="1371600"/>
            <a:ext cx="2011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15087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28A32"/>
                </a:solidFill>
                <a:latin typeface="Arial"/>
              </a:defRPr>
            </a:pPr>
            <a:r>
              <a:t>90.94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1965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E6A7D"/>
                </a:solidFill>
                <a:latin typeface="Arial"/>
              </a:defRPr>
            </a:pPr>
            <a:r>
              <a:t>Validation 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2194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E6A7D"/>
                </a:solidFill>
                <a:latin typeface="Arial"/>
              </a:defRPr>
            </a:pPr>
            <a:r>
              <a:t>验证评分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108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72033"/>
                </a:solidFill>
                <a:latin typeface="Arial"/>
              </a:defRPr>
            </a:pPr>
            <a:r>
              <a:t>Output Contract / 输出格式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5204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45A9A"/>
                </a:solidFill>
                <a:latin typeface="Arial"/>
              </a:defRPr>
            </a:pPr>
            <a:r>
              <a:t>{"cat": 2, "duck": 1, "deer": 1}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420624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172033"/>
                </a:solidFill>
                <a:latin typeface="Arial"/>
              </a:defRPr>
            </a:pPr>
            <a:r>
              <a:t>▸ One image in → one clean dictionary out</a:t>
            </a:r>
          </a:p>
          <a:p>
            <a:pPr>
              <a:spcAft>
                <a:spcPts val="800"/>
              </a:spcAft>
              <a:defRPr sz="1200">
                <a:solidFill>
                  <a:srgbClr val="5E6A7D"/>
                </a:solidFill>
                <a:latin typeface="Microsoft YaHei"/>
              </a:defRPr>
            </a:pPr>
            <a:r>
              <a:t>    单张图片输入 → 干净的字典输出</a:t>
            </a:r>
          </a:p>
          <a:p>
            <a:pPr>
              <a:spcAft>
                <a:spcPts val="100"/>
              </a:spcAft>
              <a:defRPr sz="1400">
                <a:solidFill>
                  <a:srgbClr val="172033"/>
                </a:solidFill>
                <a:latin typeface="Arial"/>
              </a:defRPr>
            </a:pPr>
            <a:r>
              <a:t>▸ Only supported animal categories retained</a:t>
            </a:r>
          </a:p>
          <a:p>
            <a:pPr>
              <a:spcAft>
                <a:spcPts val="800"/>
              </a:spcAft>
              <a:defRPr sz="1200">
                <a:solidFill>
                  <a:srgbClr val="5E6A7D"/>
                </a:solidFill>
                <a:latin typeface="Microsoft YaHei"/>
              </a:defRPr>
            </a:pPr>
            <a:r>
              <a:t>    仅保留支持的动物类别</a:t>
            </a:r>
          </a:p>
          <a:p>
            <a:pPr>
              <a:spcAft>
                <a:spcPts val="100"/>
              </a:spcAft>
              <a:defRPr sz="1400">
                <a:solidFill>
                  <a:srgbClr val="172033"/>
                </a:solidFill>
                <a:latin typeface="Arial"/>
              </a:defRPr>
            </a:pPr>
            <a:r>
              <a:t>▸ Counts after detection filtering &amp; duplicate suppression</a:t>
            </a:r>
          </a:p>
          <a:p>
            <a:pPr>
              <a:spcAft>
                <a:spcPts val="800"/>
              </a:spcAft>
              <a:defRPr sz="1200">
                <a:solidFill>
                  <a:srgbClr val="5E6A7D"/>
                </a:solidFill>
                <a:latin typeface="Microsoft YaHei"/>
              </a:defRPr>
            </a:pPr>
            <a:r>
              <a:t>    检测过滤和重复抑制后计数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446520"/>
            <a:ext cx="11247120" cy="9144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E6A7D"/>
                </a:solidFill>
                <a:latin typeface="Arial"/>
              </a:defRPr>
            </a:pPr>
            <a:r>
              <a:t>YOLO11s Animal Detection &amp; Counting | Deep Learning Final Project | 深度学习期末项目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45A9A"/>
                </a:solidFill>
                <a:latin typeface="Arial"/>
              </a:defRPr>
            </a:pPr>
            <a: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37160" cy="137160"/>
          </a:xfrm>
          <a:prstGeom prst="rect">
            <a:avLst/>
          </a:prstGeom>
          <a:solidFill>
            <a:srgbClr val="32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45A9A"/>
                </a:solidFill>
                <a:latin typeface="Arial"/>
              </a:defRPr>
            </a:pPr>
            <a:r>
              <a:t>TASK REQUIREMENTS  |  任务要求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172033"/>
                </a:solidFill>
                <a:latin typeface="Arial"/>
              </a:defRPr>
            </a:pPr>
            <a:r>
              <a:t>Structured Detection-to-Dictionary Problem</a:t>
            </a:r>
          </a:p>
          <a:p>
            <a:pPr>
              <a:spcAft>
                <a:spcPts val="200"/>
              </a:spcAft>
              <a:defRPr sz="2200">
                <a:solidFill>
                  <a:srgbClr val="5E6A7D"/>
                </a:solidFill>
                <a:latin typeface="Microsoft YaHei"/>
              </a:defRPr>
            </a:pPr>
            <a:r>
              <a:t>结构化的检测到字典转换问题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E6A7D"/>
                </a:solidFill>
                <a:latin typeface="Arial"/>
              </a:defRPr>
            </a:pPr>
            <a:r>
              <a:t>The detector must satisfy both visual recognition and strict JSON formatting.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E6A7D"/>
                </a:solidFill>
                <a:latin typeface="Arial"/>
              </a:defRPr>
            </a:pPr>
            <a:r>
              <a:t>检测器需同时满足视觉识别和严格的JSON格式要求。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1828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377440"/>
            <a:ext cx="1828800" cy="73152"/>
          </a:xfrm>
          <a:prstGeom prst="rect">
            <a:avLst/>
          </a:prstGeom>
          <a:solidFill>
            <a:srgbClr val="24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54203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45A9A"/>
                </a:solidFill>
                <a:latin typeface="Arial"/>
              </a:defRPr>
            </a:pPr>
            <a: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8892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2033"/>
                </a:solidFill>
                <a:latin typeface="Arial"/>
              </a:defRPr>
            </a:pPr>
            <a:r>
              <a:t>Detect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3580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E6A7D"/>
                </a:solidFill>
                <a:latin typeface="Arial"/>
              </a:defRPr>
            </a:pPr>
            <a:r>
              <a:t>检测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24612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E6A7D"/>
                </a:solidFill>
                <a:latin typeface="Arial"/>
              </a:defRPr>
            </a:pPr>
            <a:r>
              <a:t>Find &amp; localize every animal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88920" y="2377440"/>
            <a:ext cx="1828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88920" y="2377440"/>
            <a:ext cx="1828800" cy="73152"/>
          </a:xfrm>
          <a:prstGeom prst="rect">
            <a:avLst/>
          </a:prstGeom>
          <a:solidFill>
            <a:srgbClr val="32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254203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2A6B8"/>
                </a:solidFill>
                <a:latin typeface="Arial"/>
              </a:defRPr>
            </a:pPr>
            <a:r>
              <a:t>Step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78892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2033"/>
                </a:solidFill>
                <a:latin typeface="Arial"/>
              </a:defRPr>
            </a:pPr>
            <a:r>
              <a:t>Filter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03580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E6A7D"/>
                </a:solidFill>
                <a:latin typeface="Arial"/>
              </a:defRPr>
            </a:pPr>
            <a:r>
              <a:t>过滤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24612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E6A7D"/>
                </a:solidFill>
                <a:latin typeface="Arial"/>
              </a:defRPr>
            </a:pPr>
            <a:r>
              <a:t>Keep only 20 allowed categories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2377440"/>
            <a:ext cx="1828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2377440"/>
            <a:ext cx="1828800" cy="73152"/>
          </a:xfrm>
          <a:prstGeom prst="rect">
            <a:avLst/>
          </a:prstGeom>
          <a:solidFill>
            <a:srgbClr val="E28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0" y="254203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28A32"/>
                </a:solidFill>
                <a:latin typeface="Arial"/>
              </a:defRPr>
            </a:pPr>
            <a: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278892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2033"/>
                </a:solidFill>
                <a:latin typeface="Arial"/>
              </a:defRPr>
            </a:pPr>
            <a:r>
              <a:t>Suppress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303580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E6A7D"/>
                </a:solidFill>
                <a:latin typeface="Arial"/>
              </a:defRPr>
            </a:pPr>
            <a:r>
              <a:t>抑制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60" y="324612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E6A7D"/>
                </a:solidFill>
                <a:latin typeface="Arial"/>
              </a:defRPr>
            </a:pPr>
            <a:r>
              <a:t>Remove duplicate predictions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69480" y="2377440"/>
            <a:ext cx="1828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69480" y="2377440"/>
            <a:ext cx="1828800" cy="73152"/>
          </a:xfrm>
          <a:prstGeom prst="rect">
            <a:avLst/>
          </a:prstGeom>
          <a:solidFill>
            <a:srgbClr val="4B9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0" y="254203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B9B68"/>
                </a:solidFill>
                <a:latin typeface="Arial"/>
              </a:defRPr>
            </a:pPr>
            <a:r>
              <a:t>Step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278892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2033"/>
                </a:solidFill>
                <a:latin typeface="Arial"/>
              </a:defRPr>
            </a:pPr>
            <a:r>
              <a:t>Count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303580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E6A7D"/>
                </a:solidFill>
                <a:latin typeface="Arial"/>
              </a:defRPr>
            </a:pPr>
            <a:r>
              <a:t>计数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324612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E6A7D"/>
                </a:solidFill>
                <a:latin typeface="Arial"/>
              </a:defRPr>
            </a:pPr>
            <a:r>
              <a:t>Group remaining boxes by class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09760" y="2377440"/>
            <a:ext cx="1828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509760" y="2377440"/>
            <a:ext cx="1828800" cy="73152"/>
          </a:xfrm>
          <a:prstGeom prst="rect">
            <a:avLst/>
          </a:prstGeom>
          <a:solidFill>
            <a:srgbClr val="C9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46920" y="254203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4F4F"/>
                </a:solidFill>
                <a:latin typeface="Arial"/>
              </a:defRPr>
            </a:pPr>
            <a:r>
              <a:t>Step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6920" y="278892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2033"/>
                </a:solidFill>
                <a:latin typeface="Arial"/>
              </a:defRPr>
            </a:pPr>
            <a:r>
              <a:t>Export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46920" y="303580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E6A7D"/>
                </a:solidFill>
                <a:latin typeface="Arial"/>
              </a:defRPr>
            </a:pPr>
            <a:r>
              <a:t>导出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46920" y="324612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E6A7D"/>
                </a:solidFill>
                <a:latin typeface="Arial"/>
              </a:defRPr>
            </a:pPr>
            <a:r>
              <a:t>Write batch JSON dictionaries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114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72033"/>
                </a:solidFill>
                <a:latin typeface="Arial"/>
              </a:defRPr>
            </a:pPr>
            <a:r>
              <a:t>Scoring Focus / 评分重点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5720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172033"/>
                </a:solidFill>
                <a:latin typeface="Arial"/>
              </a:defRPr>
            </a:pPr>
            <a:r>
              <a:t>▸ Category recall: does every true species appear?</a:t>
            </a:r>
          </a:p>
          <a:p>
            <a:pPr>
              <a:spcAft>
                <a:spcPts val="800"/>
              </a:spcAft>
              <a:defRPr sz="1200">
                <a:solidFill>
                  <a:srgbClr val="5E6A7D"/>
                </a:solidFill>
                <a:latin typeface="Microsoft YaHei"/>
              </a:defRPr>
            </a:pPr>
            <a:r>
              <a:t>    类别召回率：是否每个真实物种都被检测到？</a:t>
            </a:r>
          </a:p>
          <a:p>
            <a:pPr>
              <a:spcAft>
                <a:spcPts val="100"/>
              </a:spcAft>
              <a:defRPr sz="1400">
                <a:solidFill>
                  <a:srgbClr val="172033"/>
                </a:solidFill>
                <a:latin typeface="Arial"/>
              </a:defRPr>
            </a:pPr>
            <a:r>
              <a:t>▸ Counting accuracy: is each class count correct?</a:t>
            </a:r>
          </a:p>
          <a:p>
            <a:pPr>
              <a:spcAft>
                <a:spcPts val="800"/>
              </a:spcAft>
              <a:defRPr sz="1200">
                <a:solidFill>
                  <a:srgbClr val="5E6A7D"/>
                </a:solidFill>
                <a:latin typeface="Microsoft YaHei"/>
              </a:defRPr>
            </a:pPr>
            <a:r>
              <a:t>    计数准确性：每个类别的计数是否正确？</a:t>
            </a:r>
          </a:p>
          <a:p>
            <a:pPr>
              <a:spcAft>
                <a:spcPts val="100"/>
              </a:spcAft>
              <a:defRPr sz="1400">
                <a:solidFill>
                  <a:srgbClr val="172033"/>
                </a:solidFill>
                <a:latin typeface="Arial"/>
              </a:defRPr>
            </a:pPr>
            <a:r>
              <a:t>▸ False positives: each extra wrong category costs 5 points</a:t>
            </a:r>
          </a:p>
          <a:p>
            <a:pPr>
              <a:spcAft>
                <a:spcPts val="800"/>
              </a:spcAft>
              <a:defRPr sz="1200">
                <a:solidFill>
                  <a:srgbClr val="5E6A7D"/>
                </a:solidFill>
                <a:latin typeface="Microsoft YaHei"/>
              </a:defRPr>
            </a:pPr>
            <a:r>
              <a:t>    误报惩罚：每个额外的错误类别扣5分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577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72033"/>
                </a:solidFill>
                <a:latin typeface="Arial"/>
              </a:defRPr>
            </a:pPr>
            <a:r>
              <a:t>Evaluation Metrics / 评估指标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897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E6A7D"/>
                </a:solidFill>
                <a:latin typeface="Arial"/>
              </a:defRPr>
            </a:pPr>
            <a:r>
              <a:t>Format Validity / 格式有效性  |  Category Precision / 类别精确度  |  Category Recall / 类别召回率  |  Counting Accuracy / 计数准确度  |  Overall Response Quality / 整体响应质量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6446520"/>
            <a:ext cx="11247120" cy="9144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6492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E6A7D"/>
                </a:solidFill>
                <a:latin typeface="Arial"/>
              </a:defRPr>
            </a:pPr>
            <a:r>
              <a:t>YOLO11s Animal Detection &amp; Counting | Deep Learning Final Project | 深度学习期末项目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45A9A"/>
                </a:solidFill>
                <a:latin typeface="Arial"/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37160" cy="137160"/>
          </a:xfrm>
          <a:prstGeom prst="rect">
            <a:avLst/>
          </a:prstGeom>
          <a:solidFill>
            <a:srgbClr val="32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45A9A"/>
                </a:solidFill>
                <a:latin typeface="Arial"/>
              </a:defRPr>
            </a:pPr>
            <a:r>
              <a:t>DATASET CONSTRUCTION  |  数据集构建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172033"/>
                </a:solidFill>
                <a:latin typeface="Arial"/>
              </a:defRPr>
            </a:pPr>
            <a:r>
              <a:t>Training data expanded in stages without reducing class vocabulary.</a:t>
            </a:r>
          </a:p>
          <a:p>
            <a:pPr>
              <a:spcAft>
                <a:spcPts val="200"/>
              </a:spcAft>
              <a:defRPr sz="2200">
                <a:solidFill>
                  <a:srgbClr val="5E6A7D"/>
                </a:solidFill>
                <a:latin typeface="Microsoft YaHei"/>
              </a:defRPr>
            </a:pPr>
            <a:r>
              <a:t>分阶段扩展训练数据，保留完整20类词汇。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E6A7D"/>
                </a:solidFill>
                <a:latin typeface="Arial"/>
              </a:defRPr>
            </a:pPr>
            <a:r>
              <a:t>Every fine-tuning stage preserved the 20-class output head.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E6A7D"/>
                </a:solidFill>
                <a:latin typeface="Arial"/>
              </a:defRPr>
            </a:pPr>
            <a:r>
              <a:t>每个微调阶段均保留20类输出头。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86000"/>
            <a:ext cx="106070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286000"/>
            <a:ext cx="54864" cy="594360"/>
          </a:xfrm>
          <a:prstGeom prst="rect">
            <a:avLst/>
          </a:prstGeom>
          <a:solidFill>
            <a:srgbClr val="24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423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45A9A"/>
                </a:solidFill>
                <a:latin typeface="Arial"/>
              </a:defRPr>
            </a:pPr>
            <a:r>
              <a:t>1. Merge / 合并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423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2033"/>
                </a:solidFill>
                <a:latin typeface="Arial"/>
              </a:defRPr>
            </a:pPr>
            <a:r>
              <a:t>xfz + yzy datasets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423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E6A7D"/>
                </a:solidFill>
                <a:latin typeface="Arial"/>
              </a:defRPr>
            </a:pPr>
            <a:r>
              <a:t>Convert labels to JSON / 标签转换为JSON格式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108960"/>
            <a:ext cx="106070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108960"/>
            <a:ext cx="54864" cy="594360"/>
          </a:xfrm>
          <a:prstGeom prst="rect">
            <a:avLst/>
          </a:prstGeom>
          <a:solidFill>
            <a:srgbClr val="32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246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2A6B8"/>
                </a:solidFill>
                <a:latin typeface="Arial"/>
              </a:defRPr>
            </a:pPr>
            <a:r>
              <a:t>2. Train / 训练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246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2033"/>
                </a:solidFill>
                <a:latin typeface="Arial"/>
              </a:defRPr>
            </a:pPr>
            <a:r>
              <a:t>animal_dataset1 (20cls)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2461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E6A7D"/>
                </a:solidFill>
                <a:latin typeface="Arial"/>
              </a:defRPr>
            </a:pPr>
            <a:r>
              <a:t>20-class YOLO baseline / 20类YOLO基线模型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31920"/>
            <a:ext cx="106070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931920"/>
            <a:ext cx="54864" cy="594360"/>
          </a:xfrm>
          <a:prstGeom prst="rect">
            <a:avLst/>
          </a:prstGeom>
          <a:solidFill>
            <a:srgbClr val="E28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0690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8A32"/>
                </a:solidFill>
                <a:latin typeface="Arial"/>
              </a:defRPr>
            </a:pPr>
            <a:r>
              <a:t>3. Improve / 优化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4069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2033"/>
                </a:solidFill>
                <a:latin typeface="Arial"/>
              </a:defRPr>
            </a:pPr>
            <a:r>
              <a:t>animal_dataset_5sp_v1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4069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E6A7D"/>
                </a:solidFill>
                <a:latin typeface="Arial"/>
              </a:defRPr>
            </a:pPr>
            <a:r>
              <a:t>Target: wolf/goose/horse/cow/monkey / 针对弱类别优化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54880"/>
            <a:ext cx="106070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754880"/>
            <a:ext cx="54864" cy="594360"/>
          </a:xfrm>
          <a:prstGeom prst="rect">
            <a:avLst/>
          </a:prstGeom>
          <a:solidFill>
            <a:srgbClr val="4B9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8920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B9B68"/>
                </a:solidFill>
                <a:latin typeface="Arial"/>
              </a:defRPr>
            </a:pPr>
            <a:r>
              <a:t>4. Continue / 继续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4892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2033"/>
                </a:solidFill>
                <a:latin typeface="Arial"/>
              </a:defRPr>
            </a:pPr>
            <a:r>
              <a:t>animal_dataset_6sp_v1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892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E6A7D"/>
                </a:solidFill>
                <a:latin typeface="Arial"/>
              </a:defRPr>
            </a:pPr>
            <a:r>
              <a:t>Further optimization from best model / 从最佳模型继续优化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760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72033"/>
                </a:solidFill>
                <a:latin typeface="Arial"/>
              </a:defRPr>
            </a:pPr>
            <a:r>
              <a:t>Label Format / 标签格式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5760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E6A7D"/>
                </a:solidFill>
                <a:latin typeface="Arial"/>
              </a:defRPr>
            </a:pPr>
            <a:r>
              <a:t>LabelMe-style JSON for annotation review → YOLO TXT format for training / LabelMe风格JSON用于标注审查 → YOLO TXT格式用于训练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6446520"/>
            <a:ext cx="11247120" cy="9144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E6A7D"/>
                </a:solidFill>
                <a:latin typeface="Arial"/>
              </a:defRPr>
            </a:pPr>
            <a:r>
              <a:t>YOLO11s Animal Detection &amp; Counting | Deep Learning Final Project | 深度学习期末项目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45A9A"/>
                </a:solidFill>
                <a:latin typeface="Arial"/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37160" cy="137160"/>
          </a:xfrm>
          <a:prstGeom prst="rect">
            <a:avLst/>
          </a:prstGeom>
          <a:solidFill>
            <a:srgbClr val="32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45A9A"/>
                </a:solidFill>
                <a:latin typeface="Arial"/>
              </a:defRPr>
            </a:pPr>
            <a:r>
              <a:t>MODEL PIPELINE  |  模型流程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172033"/>
                </a:solidFill>
                <a:latin typeface="Arial"/>
              </a:defRPr>
            </a:pPr>
            <a:r>
              <a:t>YOLO inference coupled with task-specific post-processing.</a:t>
            </a:r>
          </a:p>
          <a:p>
            <a:pPr>
              <a:spcAft>
                <a:spcPts val="200"/>
              </a:spcAft>
              <a:defRPr sz="2200">
                <a:solidFill>
                  <a:srgbClr val="5E6A7D"/>
                </a:solidFill>
                <a:latin typeface="Microsoft YaHei"/>
              </a:defRPr>
            </a:pPr>
            <a:r>
              <a:t>YOLO推理与任务特定的后处理相结合。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E6A7D"/>
                </a:solidFill>
                <a:latin typeface="Arial"/>
              </a:defRPr>
            </a:pPr>
            <a:r>
              <a:t>The post-processing layer is critical because grading targets a dictionary, not box list.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E6A7D"/>
                </a:solidFill>
                <a:latin typeface="Arial"/>
              </a:defRPr>
            </a:pPr>
            <a:r>
              <a:t>后处理层至关重要，因为评分目标是字典而非边界框列表。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86000"/>
            <a:ext cx="1828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286000"/>
            <a:ext cx="1828800" cy="73152"/>
          </a:xfrm>
          <a:prstGeom prst="rect">
            <a:avLst/>
          </a:prstGeom>
          <a:solidFill>
            <a:srgbClr val="24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45059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45A9A"/>
                </a:solidFill>
                <a:latin typeface="Arial"/>
              </a:defRPr>
            </a:pPr>
            <a: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9748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2033"/>
                </a:solidFill>
                <a:latin typeface="Arial"/>
              </a:defRPr>
            </a:pPr>
            <a:r>
              <a:t>YOLO11s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94436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E6A7D"/>
                </a:solidFill>
                <a:latin typeface="Arial"/>
              </a:defRPr>
            </a:pPr>
            <a:r>
              <a:t>YOLO11s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15468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E6A7D"/>
                </a:solidFill>
                <a:latin typeface="Arial"/>
              </a:defRPr>
            </a:pPr>
            <a:r>
              <a:t>COCO pre-trained detector / COCO预训练检测器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88920" y="2286000"/>
            <a:ext cx="1828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88920" y="2286000"/>
            <a:ext cx="1828800" cy="73152"/>
          </a:xfrm>
          <a:prstGeom prst="rect">
            <a:avLst/>
          </a:prstGeom>
          <a:solidFill>
            <a:srgbClr val="32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245059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2A6B8"/>
                </a:solidFill>
                <a:latin typeface="Arial"/>
              </a:defRPr>
            </a:pPr>
            <a:r>
              <a:t>Step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69748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2033"/>
                </a:solidFill>
                <a:latin typeface="Arial"/>
              </a:defRPr>
            </a:pPr>
            <a:r>
              <a:t>Fine-tune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94436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E6A7D"/>
                </a:solidFill>
                <a:latin typeface="Arial"/>
              </a:defRPr>
            </a:pPr>
            <a:r>
              <a:t>微调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15468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E6A7D"/>
                </a:solidFill>
                <a:latin typeface="Arial"/>
              </a:defRPr>
            </a:pPr>
            <a:r>
              <a:t>dataset1 → 5sp → 6sp stages / 三阶段微调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2286000"/>
            <a:ext cx="1828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2286000"/>
            <a:ext cx="1828800" cy="73152"/>
          </a:xfrm>
          <a:prstGeom prst="rect">
            <a:avLst/>
          </a:prstGeom>
          <a:solidFill>
            <a:srgbClr val="4B9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0" y="245059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B9B68"/>
                </a:solidFill>
                <a:latin typeface="Arial"/>
              </a:defRPr>
            </a:pPr>
            <a: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269748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2033"/>
                </a:solidFill>
                <a:latin typeface="Arial"/>
              </a:defRPr>
            </a:pPr>
            <a:r>
              <a:t>Whitelist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294436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E6A7D"/>
                </a:solidFill>
                <a:latin typeface="Arial"/>
              </a:defRPr>
            </a:pPr>
            <a:r>
              <a:t>白名单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60" y="315468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E6A7D"/>
                </a:solidFill>
                <a:latin typeface="Arial"/>
              </a:defRPr>
            </a:pPr>
            <a:r>
              <a:t>20 supported labels only / 仅保留20个支持标签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69480" y="2286000"/>
            <a:ext cx="1828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69480" y="2286000"/>
            <a:ext cx="1828800" cy="73152"/>
          </a:xfrm>
          <a:prstGeom prst="rect">
            <a:avLst/>
          </a:prstGeom>
          <a:solidFill>
            <a:srgbClr val="E28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0" y="245059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28A32"/>
                </a:solidFill>
                <a:latin typeface="Arial"/>
              </a:defRPr>
            </a:pPr>
            <a:r>
              <a:t>Step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269748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2033"/>
                </a:solidFill>
                <a:latin typeface="Arial"/>
              </a:defRPr>
            </a:pPr>
            <a:r>
              <a:t>NMS+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294436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E6A7D"/>
                </a:solidFill>
                <a:latin typeface="Arial"/>
              </a:defRPr>
            </a:pPr>
            <a:r>
              <a:t>NMS+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315468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E6A7D"/>
                </a:solidFill>
                <a:latin typeface="Arial"/>
              </a:defRPr>
            </a:pPr>
            <a:r>
              <a:t>Balanced close-box suppression / 平衡式近距框抑制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09760" y="2286000"/>
            <a:ext cx="1828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509760" y="2286000"/>
            <a:ext cx="1828800" cy="73152"/>
          </a:xfrm>
          <a:prstGeom prst="rect">
            <a:avLst/>
          </a:prstGeom>
          <a:solidFill>
            <a:srgbClr val="C9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46920" y="245059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4F4F"/>
                </a:solidFill>
                <a:latin typeface="Arial"/>
              </a:defRPr>
            </a:pPr>
            <a:r>
              <a:t>Step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6920" y="269748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2033"/>
                </a:solidFill>
                <a:latin typeface="Arial"/>
              </a:defRPr>
            </a:pPr>
            <a:r>
              <a:t>JSON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46920" y="294436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E6A7D"/>
                </a:solidFill>
                <a:latin typeface="Arial"/>
              </a:defRPr>
            </a:pPr>
            <a:r>
              <a:t>JSON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46920" y="315468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E6A7D"/>
                </a:solidFill>
                <a:latin typeface="Arial"/>
              </a:defRPr>
            </a:pPr>
            <a:r>
              <a:t>Positive counts only / 仅正计数输出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931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72033"/>
                </a:solidFill>
                <a:latin typeface="Arial"/>
              </a:defRPr>
            </a:pPr>
            <a:r>
              <a:t>Training Configuration / 训练配置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3434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172033"/>
                </a:solidFill>
                <a:latin typeface="Arial"/>
              </a:defRPr>
            </a:pPr>
            <a:r>
              <a:t>▸ CUDA environment: NVIDIA RTX 3070 Ti Laptop GPU</a:t>
            </a:r>
          </a:p>
          <a:p>
            <a:pPr>
              <a:spcAft>
                <a:spcPts val="800"/>
              </a:spcAft>
              <a:defRPr sz="1100">
                <a:solidFill>
                  <a:srgbClr val="5E6A7D"/>
                </a:solidFill>
                <a:latin typeface="Microsoft YaHei"/>
              </a:defRPr>
            </a:pPr>
            <a:r>
              <a:t>    CUDA环境：NVIDIA RTX 3070 Ti 笔记本GPU</a:t>
            </a:r>
          </a:p>
          <a:p>
            <a:pPr>
              <a:spcAft>
                <a:spcPts val="100"/>
              </a:spcAft>
              <a:defRPr sz="1300">
                <a:solidFill>
                  <a:srgbClr val="172033"/>
                </a:solidFill>
                <a:latin typeface="Arial"/>
              </a:defRPr>
            </a:pPr>
            <a:r>
              <a:t>▸ Hyperparameters: imgsz=640, batch=8, freeze=10, patience=15</a:t>
            </a:r>
          </a:p>
          <a:p>
            <a:pPr>
              <a:spcAft>
                <a:spcPts val="800"/>
              </a:spcAft>
              <a:defRPr sz="1100">
                <a:solidFill>
                  <a:srgbClr val="5E6A7D"/>
                </a:solidFill>
                <a:latin typeface="Microsoft YaHei"/>
              </a:defRPr>
            </a:pPr>
            <a:r>
              <a:t>    超参数：图像尺寸640，批次大小8，冻结前10层，早停耐心值15</a:t>
            </a:r>
          </a:p>
          <a:p>
            <a:pPr>
              <a:spcAft>
                <a:spcPts val="100"/>
              </a:spcAft>
              <a:defRPr sz="1300">
                <a:solidFill>
                  <a:srgbClr val="172033"/>
                </a:solidFill>
                <a:latin typeface="Arial"/>
              </a:defRPr>
            </a:pPr>
            <a:r>
              <a:t>▸ Augmentations: HSV jitter, translation, scale, flip, mosaic, light mixup</a:t>
            </a:r>
          </a:p>
          <a:p>
            <a:pPr>
              <a:spcAft>
                <a:spcPts val="800"/>
              </a:spcAft>
              <a:defRPr sz="1100">
                <a:solidFill>
                  <a:srgbClr val="5E6A7D"/>
                </a:solidFill>
                <a:latin typeface="Microsoft YaHei"/>
              </a:defRPr>
            </a:pPr>
            <a:r>
              <a:t>    数据增强：HSV抖动、平移、缩放、翻转、马赛克、轻量mixup</a:t>
            </a:r>
          </a:p>
          <a:p>
            <a:pPr>
              <a:spcAft>
                <a:spcPts val="100"/>
              </a:spcAft>
              <a:defRPr sz="1300">
                <a:solidFill>
                  <a:srgbClr val="172033"/>
                </a:solidFill>
                <a:latin typeface="Arial"/>
              </a:defRPr>
            </a:pPr>
            <a:r>
              <a:t>▸ Optimizer: AdamW, lr0=0.0005, weight_decay=0.0005, warmup_epochs=3</a:t>
            </a:r>
          </a:p>
          <a:p>
            <a:pPr>
              <a:spcAft>
                <a:spcPts val="800"/>
              </a:spcAft>
              <a:defRPr sz="1100">
                <a:solidFill>
                  <a:srgbClr val="5E6A7D"/>
                </a:solidFill>
                <a:latin typeface="Microsoft YaHei"/>
              </a:defRPr>
            </a:pPr>
            <a:r>
              <a:t>    优化器：AdamW，初始学习率0.0005，权重衰减0.0005，预热3轮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6446520"/>
            <a:ext cx="11247120" cy="9144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492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E6A7D"/>
                </a:solidFill>
                <a:latin typeface="Arial"/>
              </a:defRPr>
            </a:pPr>
            <a:r>
              <a:t>YOLO11s Animal Detection &amp; Counting | Deep Learning Final Project | 深度学习期末项目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45A9A"/>
                </a:solidFill>
                <a:latin typeface="Arial"/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37160" cy="137160"/>
          </a:xfrm>
          <a:prstGeom prst="rect">
            <a:avLst/>
          </a:prstGeom>
          <a:solidFill>
            <a:srgbClr val="32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45A9A"/>
                </a:solidFill>
                <a:latin typeface="Arial"/>
              </a:defRPr>
            </a:pPr>
            <a:r>
              <a:t>TRAINING RESULTS  |  训练结果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172033"/>
                </a:solidFill>
                <a:latin typeface="Arial"/>
              </a:defRPr>
            </a:pPr>
            <a:r>
              <a:t>Final fine-tuning converged quickly; epoch 2 selected as best.</a:t>
            </a:r>
          </a:p>
          <a:p>
            <a:pPr>
              <a:spcAft>
                <a:spcPts val="200"/>
              </a:spcAft>
              <a:defRPr sz="2200">
                <a:solidFill>
                  <a:srgbClr val="5E6A7D"/>
                </a:solidFill>
                <a:latin typeface="Microsoft YaHei"/>
              </a:defRPr>
            </a:pPr>
            <a:r>
              <a:t>最终微调快速收敛，第2轮被选为最佳模型。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E6A7D"/>
                </a:solidFill>
                <a:latin typeface="Arial"/>
              </a:defRPr>
            </a:pPr>
            <a:r>
              <a:t>Validation metrics remained high while later epochs showed no sustained improvement.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E6A7D"/>
                </a:solidFill>
                <a:latin typeface="Arial"/>
              </a:defRPr>
            </a:pPr>
            <a:r>
              <a:t>验证指标保持高位，后期轮次无持续提升。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2286000"/>
            <a:ext cx="2011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9" y="24231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45A9A"/>
                </a:solidFill>
                <a:latin typeface="Arial"/>
              </a:defRPr>
            </a:pPr>
            <a:r>
              <a:t>0.963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9" y="2880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E6A7D"/>
                </a:solidFill>
                <a:latin typeface="Arial"/>
              </a:defRPr>
            </a:pPr>
            <a:r>
              <a:t>Precision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9" y="3108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E6A7D"/>
                </a:solidFill>
                <a:latin typeface="Arial"/>
              </a:defRPr>
            </a:pPr>
            <a:r>
              <a:t>精确率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66960" y="2286000"/>
            <a:ext cx="2011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49840" y="24231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4B9B68"/>
                </a:solidFill>
                <a:latin typeface="Arial"/>
              </a:defRPr>
            </a:pPr>
            <a:r>
              <a:t>0.977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0" y="2880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E6A7D"/>
                </a:solidFill>
                <a:latin typeface="Arial"/>
              </a:defRPr>
            </a:pPr>
            <a:r>
              <a:t>Recall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0" y="3108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E6A7D"/>
                </a:solidFill>
                <a:latin typeface="Arial"/>
              </a:defRPr>
            </a:pPr>
            <a:r>
              <a:t>召回率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3931920"/>
            <a:ext cx="2011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9" y="40690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28A32"/>
                </a:solidFill>
                <a:latin typeface="Arial"/>
              </a:defRPr>
            </a:pPr>
            <a:r>
              <a:t>0.978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9" y="45262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E6A7D"/>
                </a:solidFill>
                <a:latin typeface="Arial"/>
              </a:defRPr>
            </a:pPr>
            <a:r>
              <a:t>mAP50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9" y="4754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E6A7D"/>
                </a:solidFill>
                <a:latin typeface="Arial"/>
              </a:defRPr>
            </a:pPr>
            <a:r>
              <a:t>mAP50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66960" y="3931920"/>
            <a:ext cx="2011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49840" y="40690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C94F4F"/>
                </a:solidFill>
                <a:latin typeface="Arial"/>
              </a:defRPr>
            </a:pPr>
            <a:r>
              <a:t>0.940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40" y="45262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E6A7D"/>
                </a:solidFill>
                <a:latin typeface="Arial"/>
              </a:defRPr>
            </a:pPr>
            <a:r>
              <a:t>mAP50-95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0" y="4754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E6A7D"/>
                </a:solidFill>
                <a:latin typeface="Arial"/>
              </a:defRPr>
            </a:pPr>
            <a:r>
              <a:t>mAP50-95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56692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E6A7D"/>
                </a:solidFill>
                <a:latin typeface="Arial"/>
              </a:defRPr>
            </a:pPr>
            <a:r>
              <a:t>Best checkpoint: runs/detect/.../animal_dataset_6sp_20cls_finetune/weights/best.pt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943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2033"/>
                </a:solidFill>
                <a:latin typeface="Arial"/>
              </a:defRPr>
            </a:pPr>
            <a:r>
              <a:t>Training Stages / 训练阶段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21792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45A9A"/>
                </a:solidFill>
                <a:latin typeface="Arial"/>
              </a:defRPr>
            </a:pPr>
            <a:r>
              <a:t>Stage 1: animal_dataset1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0080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E6A7D"/>
                </a:solidFill>
                <a:latin typeface="Arial"/>
              </a:defRPr>
            </a:pPr>
            <a:r>
              <a:t>20-class baseline / 20类基线  ←  COCO pre-trained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621792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45A9A"/>
                </a:solidFill>
                <a:latin typeface="Arial"/>
              </a:defRPr>
            </a:pPr>
            <a:r>
              <a:t>Stage 2: animal_dataset_5sp_v1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640080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E6A7D"/>
                </a:solidFill>
                <a:latin typeface="Arial"/>
              </a:defRPr>
            </a:pPr>
            <a:r>
              <a:t>5 weak classes improved / 5弱类优化  ←  Stage 1 best.pt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621792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45A9A"/>
                </a:solidFill>
                <a:latin typeface="Arial"/>
              </a:defRPr>
            </a:pPr>
            <a:r>
              <a:t>Stage 3: animal_dataset_6sp_v1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640080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E6A7D"/>
                </a:solidFill>
                <a:latin typeface="Arial"/>
              </a:defRPr>
            </a:pPr>
            <a:r>
              <a:t>Continued optimization / 继续优化  ←  Stage 2 best.pt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6446520"/>
            <a:ext cx="11247120" cy="9144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492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E6A7D"/>
                </a:solidFill>
                <a:latin typeface="Arial"/>
              </a:defRPr>
            </a:pPr>
            <a:r>
              <a:t>YOLO11s Animal Detection &amp; Counting | Deep Learning Final Project | 深度学习期末项目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45A9A"/>
                </a:solidFill>
                <a:latin typeface="Arial"/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37160" cy="137160"/>
          </a:xfrm>
          <a:prstGeom prst="rect">
            <a:avLst/>
          </a:prstGeom>
          <a:solidFill>
            <a:srgbClr val="32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45A9A"/>
                </a:solidFill>
                <a:latin typeface="Arial"/>
              </a:defRPr>
            </a:pPr>
            <a:r>
              <a:t>VALIDATION RESULTS  |  验证结果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172033"/>
                </a:solidFill>
                <a:latin typeface="Arial"/>
              </a:defRPr>
            </a:pPr>
            <a:r>
              <a:t>Balanced suppression produced 90.94/100 average validation score.</a:t>
            </a:r>
          </a:p>
          <a:p>
            <a:pPr>
              <a:spcAft>
                <a:spcPts val="200"/>
              </a:spcAft>
              <a:defRPr sz="2200">
                <a:solidFill>
                  <a:srgbClr val="5E6A7D"/>
                </a:solidFill>
                <a:latin typeface="Microsoft YaHei"/>
              </a:defRPr>
            </a:pPr>
            <a:r>
              <a:t>平衡式抑制策略获得了90.94/100的平均验证评分。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E6A7D"/>
                </a:solidFill>
                <a:latin typeface="Arial"/>
              </a:defRPr>
            </a:pPr>
            <a:r>
              <a:t>Remaining errors concentrated in confusing bird &amp; canine-like classes.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E6A7D"/>
                </a:solidFill>
                <a:latin typeface="Arial"/>
              </a:defRPr>
            </a:pPr>
            <a:r>
              <a:t>剩余错误集中在易混淆的禽类和犬科类别。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86000"/>
            <a:ext cx="2011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28A32"/>
                </a:solidFill>
                <a:latin typeface="Arial"/>
              </a:defRPr>
            </a:pPr>
            <a:r>
              <a:t>90.94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80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E6A7D"/>
                </a:solidFill>
                <a:latin typeface="Arial"/>
              </a:defRPr>
            </a:pPr>
            <a:r>
              <a:t>Avg Score / 均分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08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E6A7D"/>
                </a:solidFill>
                <a:latin typeface="Arial"/>
              </a:defRPr>
            </a:pPr>
            <a:r>
              <a:t>/100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2286000"/>
            <a:ext cx="2011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24231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4B9B68"/>
                </a:solidFill>
                <a:latin typeface="Arial"/>
              </a:defRPr>
            </a:pPr>
            <a:r>
              <a:t>9/15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880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E6A7D"/>
                </a:solidFill>
                <a:latin typeface="Arial"/>
              </a:defRPr>
            </a:pPr>
            <a:r>
              <a:t>Perfect Images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108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E6A7D"/>
                </a:solidFill>
                <a:latin typeface="Arial"/>
              </a:defRPr>
            </a:pPr>
            <a:r>
              <a:t>满分图片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2286000"/>
            <a:ext cx="2011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24231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45A9A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2880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E6A7D"/>
                </a:solidFill>
                <a:latin typeface="Arial"/>
              </a:defRPr>
            </a:pPr>
            <a:r>
              <a:t>Validation 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3108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E6A7D"/>
                </a:solidFill>
                <a:latin typeface="Arial"/>
              </a:defRPr>
            </a:pPr>
            <a:r>
              <a:t>验证集图片数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931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72033"/>
                </a:solidFill>
                <a:latin typeface="Arial"/>
              </a:defRPr>
            </a:pPr>
            <a:r>
              <a:t>Per-Image Scores / 逐图评分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38912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72033"/>
                </a:solidFill>
                <a:latin typeface="Arial"/>
              </a:defRPr>
            </a:pPr>
            <a:r>
              <a:t>eval_001384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0" y="4443983"/>
            <a:ext cx="4572000" cy="146304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0" y="4443983"/>
            <a:ext cx="4572000" cy="146304"/>
          </a:xfrm>
          <a:prstGeom prst="rect">
            <a:avLst/>
          </a:prstGeom>
          <a:solidFill>
            <a:srgbClr val="4B9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438912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B9B68"/>
                </a:solidFill>
                <a:latin typeface="Arial"/>
              </a:defRPr>
            </a:pPr>
            <a:r>
              <a:t>100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38912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72033"/>
                </a:solidFill>
                <a:latin typeface="Arial"/>
              </a:defRPr>
            </a:pPr>
            <a:r>
              <a:t>eval_001388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0" y="4443983"/>
            <a:ext cx="4572000" cy="146304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412480" y="4443983"/>
            <a:ext cx="4572000" cy="146304"/>
          </a:xfrm>
          <a:prstGeom prst="rect">
            <a:avLst/>
          </a:prstGeom>
          <a:solidFill>
            <a:srgbClr val="4B9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121640" y="438912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B9B68"/>
                </a:solidFill>
                <a:latin typeface="Arial"/>
              </a:defRPr>
            </a:pPr>
            <a:r>
              <a:t>100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681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72033"/>
                </a:solidFill>
                <a:latin typeface="Arial"/>
              </a:defRPr>
            </a:pPr>
            <a:r>
              <a:t>eval_001431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4736592"/>
            <a:ext cx="4572000" cy="146304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0" y="4736592"/>
            <a:ext cx="4572000" cy="146304"/>
          </a:xfrm>
          <a:prstGeom prst="rect">
            <a:avLst/>
          </a:prstGeom>
          <a:solidFill>
            <a:srgbClr val="4B9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52360" y="468172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B9B68"/>
                </a:solidFill>
                <a:latin typeface="Arial"/>
              </a:defRPr>
            </a:pPr>
            <a:r>
              <a:t>100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4681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72033"/>
                </a:solidFill>
                <a:latin typeface="Arial"/>
              </a:defRPr>
            </a:pPr>
            <a:r>
              <a:t>val_4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12480" y="4736592"/>
            <a:ext cx="4572000" cy="146304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412480" y="4736592"/>
            <a:ext cx="4572000" cy="146304"/>
          </a:xfrm>
          <a:prstGeom prst="rect">
            <a:avLst/>
          </a:prstGeom>
          <a:solidFill>
            <a:srgbClr val="4B9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121640" y="468172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B9B68"/>
                </a:solidFill>
                <a:latin typeface="Arial"/>
              </a:defRPr>
            </a:pPr>
            <a:r>
              <a:t>100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97433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72033"/>
                </a:solidFill>
                <a:latin typeface="Arial"/>
              </a:defRPr>
            </a:pPr>
            <a:r>
              <a:t>val_5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0" y="5029199"/>
            <a:ext cx="4572000" cy="146304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43200" y="5029199"/>
            <a:ext cx="4572000" cy="146304"/>
          </a:xfrm>
          <a:prstGeom prst="rect">
            <a:avLst/>
          </a:prstGeom>
          <a:solidFill>
            <a:srgbClr val="4B9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52360" y="497433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B9B68"/>
                </a:solidFill>
                <a:latin typeface="Arial"/>
              </a:defRPr>
            </a:pPr>
            <a:r>
              <a:t>100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497433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72033"/>
                </a:solidFill>
                <a:latin typeface="Arial"/>
              </a:defRPr>
            </a:pPr>
            <a:r>
              <a:t>val_6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12480" y="5029199"/>
            <a:ext cx="4572000" cy="146304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412480" y="5029199"/>
            <a:ext cx="4572000" cy="146304"/>
          </a:xfrm>
          <a:prstGeom prst="rect">
            <a:avLst/>
          </a:prstGeom>
          <a:solidFill>
            <a:srgbClr val="4B9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3121640" y="497433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B9B68"/>
                </a:solidFill>
                <a:latin typeface="Arial"/>
              </a:defRPr>
            </a:pPr>
            <a:r>
              <a:t>100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526694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72033"/>
                </a:solidFill>
                <a:latin typeface="Arial"/>
              </a:defRPr>
            </a:pPr>
            <a:r>
              <a:t>val_7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0" y="5321807"/>
            <a:ext cx="4572000" cy="146304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743200" y="5321807"/>
            <a:ext cx="4572000" cy="146304"/>
          </a:xfrm>
          <a:prstGeom prst="rect">
            <a:avLst/>
          </a:prstGeom>
          <a:solidFill>
            <a:srgbClr val="4B9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52360" y="526694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B9B68"/>
                </a:solidFill>
                <a:latin typeface="Arial"/>
              </a:defRPr>
            </a:pPr>
            <a:r>
              <a:t>100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0" y="526694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72033"/>
                </a:solidFill>
                <a:latin typeface="Arial"/>
              </a:defRPr>
            </a:pPr>
            <a:r>
              <a:t>val_8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412480" y="5321807"/>
            <a:ext cx="4572000" cy="146304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412480" y="5321807"/>
            <a:ext cx="4572000" cy="146304"/>
          </a:xfrm>
          <a:prstGeom prst="rect">
            <a:avLst/>
          </a:prstGeom>
          <a:solidFill>
            <a:srgbClr val="4B9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3121640" y="526694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B9B68"/>
                </a:solidFill>
                <a:latin typeface="Arial"/>
              </a:defRPr>
            </a:pPr>
            <a:r>
              <a:t>100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555955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72033"/>
                </a:solidFill>
                <a:latin typeface="Arial"/>
              </a:defRPr>
            </a:pPr>
            <a:r>
              <a:t>val_10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0" y="5614416"/>
            <a:ext cx="4572000" cy="146304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743200" y="5614416"/>
            <a:ext cx="4572000" cy="146304"/>
          </a:xfrm>
          <a:prstGeom prst="rect">
            <a:avLst/>
          </a:prstGeom>
          <a:solidFill>
            <a:srgbClr val="4B9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452360" y="555955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B9B68"/>
                </a:solidFill>
                <a:latin typeface="Arial"/>
              </a:defRPr>
            </a:pPr>
            <a:r>
              <a:t>100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17920" y="555955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72033"/>
                </a:solidFill>
                <a:latin typeface="Arial"/>
              </a:defRPr>
            </a:pPr>
            <a:r>
              <a:t>eval_001391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412480" y="5614416"/>
            <a:ext cx="4572000" cy="146304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412480" y="5614416"/>
            <a:ext cx="3809847" cy="146304"/>
          </a:xfrm>
          <a:prstGeom prst="rect">
            <a:avLst/>
          </a:prstGeom>
          <a:solidFill>
            <a:srgbClr val="E28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3121640" y="555955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28A32"/>
                </a:solidFill>
                <a:latin typeface="Arial"/>
              </a:defRPr>
            </a:pPr>
            <a:r>
              <a:t>83.3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" y="585216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72033"/>
                </a:solidFill>
                <a:latin typeface="Arial"/>
              </a:defRPr>
            </a:pPr>
            <a:r>
              <a:t>val_1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0" y="5907024"/>
            <a:ext cx="4572000" cy="146304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743200" y="5907024"/>
            <a:ext cx="3429000" cy="146304"/>
          </a:xfrm>
          <a:prstGeom prst="rect">
            <a:avLst/>
          </a:prstGeom>
          <a:solidFill>
            <a:srgbClr val="E28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452360" y="585216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28A32"/>
                </a:solidFill>
                <a:latin typeface="Arial"/>
              </a:defRPr>
            </a:pPr>
            <a:r>
              <a:t>75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17920" y="585216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72033"/>
                </a:solidFill>
                <a:latin typeface="Arial"/>
              </a:defRPr>
            </a:pPr>
            <a:r>
              <a:t>val_2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412480" y="5907024"/>
            <a:ext cx="4572000" cy="146304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412480" y="5907024"/>
            <a:ext cx="2819552" cy="146304"/>
          </a:xfrm>
          <a:prstGeom prst="rect">
            <a:avLst/>
          </a:prstGeom>
          <a:solidFill>
            <a:srgbClr val="C9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3121640" y="585216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94F4F"/>
                </a:solidFill>
                <a:latin typeface="Arial"/>
              </a:defRPr>
            </a:pPr>
            <a:r>
              <a:t>61.7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" y="614476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72033"/>
                </a:solidFill>
                <a:latin typeface="Arial"/>
              </a:defRPr>
            </a:pPr>
            <a:r>
              <a:t>val_9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0" y="6199631"/>
            <a:ext cx="4572000" cy="146304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743200" y="6199631"/>
            <a:ext cx="2819552" cy="146304"/>
          </a:xfrm>
          <a:prstGeom prst="rect">
            <a:avLst/>
          </a:prstGeom>
          <a:solidFill>
            <a:srgbClr val="C9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452360" y="61447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94F4F"/>
                </a:solidFill>
                <a:latin typeface="Arial"/>
              </a:defRPr>
            </a:pPr>
            <a:r>
              <a:t>61.7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17920" y="614476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72033"/>
                </a:solidFill>
                <a:latin typeface="Arial"/>
              </a:defRPr>
            </a:pPr>
            <a:r>
              <a:t>eval_001402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412480" y="6199631"/>
            <a:ext cx="4572000" cy="146304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412480" y="6199631"/>
            <a:ext cx="2286000" cy="146304"/>
          </a:xfrm>
          <a:prstGeom prst="rect">
            <a:avLst/>
          </a:prstGeom>
          <a:solidFill>
            <a:srgbClr val="C9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3121640" y="61447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94F4F"/>
                </a:solidFill>
                <a:latin typeface="Arial"/>
              </a:defRPr>
            </a:pPr>
            <a:r>
              <a:t>50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8640" y="643737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72033"/>
                </a:solidFill>
                <a:latin typeface="Arial"/>
              </a:defRPr>
            </a:pPr>
            <a:r>
              <a:t>val_3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743200" y="6492240"/>
            <a:ext cx="4572000" cy="146304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743200" y="6492240"/>
            <a:ext cx="2286000" cy="146304"/>
          </a:xfrm>
          <a:prstGeom prst="rect">
            <a:avLst/>
          </a:prstGeom>
          <a:solidFill>
            <a:srgbClr val="C9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452360" y="643737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94F4F"/>
                </a:solidFill>
                <a:latin typeface="Arial"/>
              </a:defRPr>
            </a:pPr>
            <a:r>
              <a:t>50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680960" y="2377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72033"/>
                </a:solidFill>
                <a:latin typeface="Arial"/>
              </a:defRPr>
            </a:pPr>
            <a:r>
              <a:t>Main Error Types / 主要错误类型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680960" y="283464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00">
                <a:solidFill>
                  <a:srgbClr val="172033"/>
                </a:solidFill>
                <a:latin typeface="Arial"/>
              </a:defRPr>
            </a:pPr>
            <a:r>
              <a:t>▸ Missed detections (e.g., fox in val_1)</a:t>
            </a:r>
          </a:p>
          <a:p>
            <a:pPr>
              <a:spcAft>
                <a:spcPts val="800"/>
              </a:spcAft>
              <a:defRPr sz="1000">
                <a:solidFill>
                  <a:srgbClr val="5E6A7D"/>
                </a:solidFill>
                <a:latin typeface="Microsoft YaHei"/>
              </a:defRPr>
            </a:pPr>
            <a:r>
              <a:t>    漏检（如val_1中的狐狸）</a:t>
            </a:r>
          </a:p>
          <a:p>
            <a:pPr>
              <a:spcAft>
                <a:spcPts val="100"/>
              </a:spcAft>
              <a:defRPr sz="1200">
                <a:solidFill>
                  <a:srgbClr val="172033"/>
                </a:solidFill>
                <a:latin typeface="Arial"/>
              </a:defRPr>
            </a:pPr>
            <a:r>
              <a:t>▸ Class confusion: duck ↔ goose</a:t>
            </a:r>
          </a:p>
          <a:p>
            <a:pPr>
              <a:spcAft>
                <a:spcPts val="800"/>
              </a:spcAft>
              <a:defRPr sz="1000">
                <a:solidFill>
                  <a:srgbClr val="5E6A7D"/>
                </a:solidFill>
                <a:latin typeface="Microsoft YaHei"/>
              </a:defRPr>
            </a:pPr>
            <a:r>
              <a:t>    类别混淆：鸭 ↔ 鹅</a:t>
            </a:r>
          </a:p>
          <a:p>
            <a:pPr>
              <a:spcAft>
                <a:spcPts val="100"/>
              </a:spcAft>
              <a:defRPr sz="1200">
                <a:solidFill>
                  <a:srgbClr val="172033"/>
                </a:solidFill>
                <a:latin typeface="Arial"/>
              </a:defRPr>
            </a:pPr>
            <a:r>
              <a:t>▸ Class confusion: fox/wolf/dog</a:t>
            </a:r>
          </a:p>
          <a:p>
            <a:pPr>
              <a:spcAft>
                <a:spcPts val="800"/>
              </a:spcAft>
              <a:defRPr sz="1000">
                <a:solidFill>
                  <a:srgbClr val="5E6A7D"/>
                </a:solidFill>
                <a:latin typeface="Microsoft YaHei"/>
              </a:defRPr>
            </a:pPr>
            <a:r>
              <a:t>    类别混淆：狐狸/狼/狗</a:t>
            </a:r>
          </a:p>
          <a:p>
            <a:pPr>
              <a:spcAft>
                <a:spcPts val="100"/>
              </a:spcAft>
              <a:defRPr sz="1200">
                <a:solidFill>
                  <a:srgbClr val="172033"/>
                </a:solidFill>
                <a:latin typeface="Arial"/>
              </a:defRPr>
            </a:pPr>
            <a:r>
              <a:t>▸ Extra false positive categories</a:t>
            </a:r>
          </a:p>
          <a:p>
            <a:pPr>
              <a:spcAft>
                <a:spcPts val="800"/>
              </a:spcAft>
              <a:defRPr sz="1000">
                <a:solidFill>
                  <a:srgbClr val="5E6A7D"/>
                </a:solidFill>
                <a:latin typeface="Microsoft YaHei"/>
              </a:defRPr>
            </a:pPr>
            <a:r>
              <a:t>    额外的误报类别</a:t>
            </a:r>
          </a:p>
          <a:p>
            <a:pPr>
              <a:spcAft>
                <a:spcPts val="100"/>
              </a:spcAft>
              <a:defRPr sz="1200">
                <a:solidFill>
                  <a:srgbClr val="172033"/>
                </a:solidFill>
                <a:latin typeface="Arial"/>
              </a:defRPr>
            </a:pPr>
            <a:r>
              <a:t>▸ Count errors in occluded scenes</a:t>
            </a:r>
          </a:p>
          <a:p>
            <a:pPr>
              <a:spcAft>
                <a:spcPts val="800"/>
              </a:spcAft>
              <a:defRPr sz="1000">
                <a:solidFill>
                  <a:srgbClr val="5E6A7D"/>
                </a:solidFill>
                <a:latin typeface="Microsoft YaHei"/>
              </a:defRPr>
            </a:pPr>
            <a:r>
              <a:t>    遮挡场景中的计数错误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7200" y="6446520"/>
            <a:ext cx="11247120" cy="9144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57200" y="6492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E6A7D"/>
                </a:solidFill>
                <a:latin typeface="Arial"/>
              </a:defRPr>
            </a:pPr>
            <a:r>
              <a:t>YOLO11s Animal Detection &amp; Counting | Deep Learning Final Project | 深度学习期末项目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5156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45A9A"/>
                </a:solidFill>
                <a:latin typeface="Arial"/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37160" cy="137160"/>
          </a:xfrm>
          <a:prstGeom prst="rect">
            <a:avLst/>
          </a:prstGeom>
          <a:solidFill>
            <a:srgbClr val="32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45A9A"/>
                </a:solidFill>
                <a:latin typeface="Arial"/>
              </a:defRPr>
            </a:pPr>
            <a:r>
              <a:t>VISUAL OUTPUT  |  可视化输出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172033"/>
                </a:solidFill>
                <a:latin typeface="Arial"/>
              </a:defRPr>
            </a:pPr>
            <a:r>
              <a:t>Validation images annotated with boxes &amp; confidence scores.</a:t>
            </a:r>
          </a:p>
          <a:p>
            <a:pPr>
              <a:spcAft>
                <a:spcPts val="200"/>
              </a:spcAft>
              <a:defRPr sz="2200">
                <a:solidFill>
                  <a:srgbClr val="5E6A7D"/>
                </a:solidFill>
                <a:latin typeface="Microsoft YaHei"/>
              </a:defRPr>
            </a:pPr>
            <a:r>
              <a:t>验证集图片标注了边界框和置信度分数。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E6A7D"/>
                </a:solidFill>
                <a:latin typeface="Arial"/>
              </a:defRPr>
            </a:pPr>
            <a:r>
              <a:t>Same post-processing logic used for both displayed boxes and JSON counts.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E6A7D"/>
                </a:solidFill>
                <a:latin typeface="Arial"/>
              </a:defRPr>
            </a:pPr>
            <a:r>
              <a:t>显示框和JSON计数使用相同的后处理逻辑。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286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72033"/>
                </a:solidFill>
                <a:latin typeface="Arial"/>
              </a:defRPr>
            </a:pPr>
            <a:r>
              <a:t>Post-Processing Rules / 后处理规则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7432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00">
                <a:solidFill>
                  <a:srgbClr val="172033"/>
                </a:solidFill>
                <a:latin typeface="Arial"/>
              </a:defRPr>
            </a:pPr>
            <a:r>
              <a:t>▸ Same-class: merge when IoU high or centers close with similar size</a:t>
            </a:r>
          </a:p>
          <a:p>
            <a:pPr>
              <a:spcAft>
                <a:spcPts val="800"/>
              </a:spcAft>
              <a:defRPr sz="1000">
                <a:solidFill>
                  <a:srgbClr val="5E6A7D"/>
                </a:solidFill>
                <a:latin typeface="Microsoft YaHei"/>
              </a:defRPr>
            </a:pPr>
            <a:r>
              <a:t>    同类别：IoU高或中心距近且尺寸相似时合并</a:t>
            </a:r>
          </a:p>
          <a:p>
            <a:pPr>
              <a:spcAft>
                <a:spcPts val="100"/>
              </a:spcAft>
              <a:defRPr sz="1200">
                <a:solidFill>
                  <a:srgbClr val="172033"/>
                </a:solidFill>
                <a:latin typeface="Arial"/>
              </a:defRPr>
            </a:pPr>
            <a:r>
              <a:t>▸ Cross-class: merge only when likely covering same object (stricter thresholds)</a:t>
            </a:r>
          </a:p>
          <a:p>
            <a:pPr>
              <a:spcAft>
                <a:spcPts val="800"/>
              </a:spcAft>
              <a:defRPr sz="1000">
                <a:solidFill>
                  <a:srgbClr val="5E6A7D"/>
                </a:solidFill>
                <a:latin typeface="Microsoft YaHei"/>
              </a:defRPr>
            </a:pPr>
            <a:r>
              <a:t>    跨类别：仅在很可能覆盖同一目标时合并（更严格阈值）</a:t>
            </a:r>
          </a:p>
          <a:p>
            <a:pPr>
              <a:spcAft>
                <a:spcPts val="100"/>
              </a:spcAft>
              <a:defRPr sz="1200">
                <a:solidFill>
                  <a:srgbClr val="172033"/>
                </a:solidFill>
                <a:latin typeface="Arial"/>
              </a:defRPr>
            </a:pPr>
            <a:r>
              <a:t>▸ Keep highest-confidence detection among duplicates</a:t>
            </a:r>
          </a:p>
          <a:p>
            <a:pPr>
              <a:spcAft>
                <a:spcPts val="800"/>
              </a:spcAft>
              <a:defRPr sz="1000">
                <a:solidFill>
                  <a:srgbClr val="5E6A7D"/>
                </a:solidFill>
                <a:latin typeface="Microsoft YaHei"/>
              </a:defRPr>
            </a:pPr>
            <a:r>
              <a:t>    在重复检测中保留置信度最高的</a:t>
            </a:r>
          </a:p>
          <a:p>
            <a:pPr>
              <a:spcAft>
                <a:spcPts val="100"/>
              </a:spcAft>
              <a:defRPr sz="1200">
                <a:solidFill>
                  <a:srgbClr val="172033"/>
                </a:solidFill>
                <a:latin typeface="Arial"/>
              </a:defRPr>
            </a:pPr>
            <a:r>
              <a:t>▸ Balanced mode: reduce duplicates without aggressive deletion</a:t>
            </a:r>
          </a:p>
          <a:p>
            <a:pPr>
              <a:spcAft>
                <a:spcPts val="800"/>
              </a:spcAft>
              <a:defRPr sz="1000">
                <a:solidFill>
                  <a:srgbClr val="5E6A7D"/>
                </a:solidFill>
                <a:latin typeface="Microsoft YaHei"/>
              </a:defRPr>
            </a:pPr>
            <a:r>
              <a:t>    平衡模式：减少重复但不激进删除邻近动物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029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45A9A"/>
                </a:solidFill>
                <a:latin typeface="Arial"/>
              </a:defRPr>
            </a:pPr>
            <a:r>
              <a:t>Output Directory / 输出目录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3492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E6A7D"/>
                </a:solidFill>
                <a:latin typeface="Arial"/>
              </a:defRPr>
            </a:pPr>
            <a:r>
              <a:t>outputs/val_set_annotated_6sp_20cls_finetuned_suppressed_balanced/</a:t>
            </a:r>
            <a:br/>
            <a:r>
              <a:t>  annotated/  ← images with boxes / 带框图片</a:t>
            </a:r>
            <a:br/>
            <a:r>
              <a:t>  detections_with_boxes.json  ← full detection metadata / 完整检测元数据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6446520"/>
            <a:ext cx="11247120" cy="9144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E6A7D"/>
                </a:solidFill>
                <a:latin typeface="Arial"/>
              </a:defRPr>
            </a:pPr>
            <a:r>
              <a:t>YOLO11s Animal Detection &amp; Counting | Deep Learning Final Project | 深度学习期末项目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45A9A"/>
                </a:solidFill>
                <a:latin typeface="Arial"/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37160" cy="137160"/>
          </a:xfrm>
          <a:prstGeom prst="rect">
            <a:avLst/>
          </a:prstGeom>
          <a:solidFill>
            <a:srgbClr val="32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45A9A"/>
                </a:solidFill>
                <a:latin typeface="Arial"/>
              </a:defRPr>
            </a:pPr>
            <a:r>
              <a:t>ANALYSIS &amp; CHALLENGES  |  分析与挑战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172033"/>
                </a:solidFill>
                <a:latin typeface="Arial"/>
              </a:defRPr>
            </a:pPr>
            <a:r>
              <a:t>Deep dive into model behavior and remaining issues.</a:t>
            </a:r>
          </a:p>
          <a:p>
            <a:pPr>
              <a:spcAft>
                <a:spcPts val="200"/>
              </a:spcAft>
              <a:defRPr sz="2200">
                <a:solidFill>
                  <a:srgbClr val="5E6A7D"/>
                </a:solidFill>
                <a:latin typeface="Microsoft YaHei"/>
              </a:defRPr>
            </a:pPr>
            <a:r>
              <a:t>深入分析模型行为和遗留问题。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3474720" cy="54864"/>
          </a:xfrm>
          <a:prstGeom prst="rect">
            <a:avLst/>
          </a:prstGeom>
          <a:solidFill>
            <a:srgbClr val="4B9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B9B68"/>
                </a:solidFill>
                <a:latin typeface="Arial"/>
              </a:defRPr>
            </a:pPr>
            <a:r>
              <a:t>Strengths / 优势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3108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172033"/>
                </a:solidFill>
                <a:latin typeface="Arial"/>
              </a:defRPr>
            </a:pPr>
            <a:r>
              <a:t>▸ Large distinctive animals (zebra, giraffe, horse, lion, tiger, bear) detected well</a:t>
            </a:r>
          </a:p>
          <a:p>
            <a:pPr>
              <a:spcAft>
                <a:spcPts val="800"/>
              </a:spcAft>
              <a:defRPr sz="900">
                <a:solidFill>
                  <a:srgbClr val="5E6A7D"/>
                </a:solidFill>
                <a:latin typeface="Microsoft YaHei"/>
              </a:defRPr>
            </a:pPr>
            <a:r>
              <a:t>    大型特征明显动物检测良好</a:t>
            </a:r>
          </a:p>
          <a:p>
            <a:pPr>
              <a:spcAft>
                <a:spcPts val="100"/>
              </a:spcAft>
              <a:defRPr sz="1100">
                <a:solidFill>
                  <a:srgbClr val="172033"/>
                </a:solidFill>
                <a:latin typeface="Arial"/>
              </a:defRPr>
            </a:pPr>
            <a:r>
              <a:t>▸ High mAP50 (0.978) and mAP50-95 (0.940)</a:t>
            </a:r>
          </a:p>
          <a:p>
            <a:pPr>
              <a:spcAft>
                <a:spcPts val="800"/>
              </a:spcAft>
              <a:defRPr sz="900">
                <a:solidFill>
                  <a:srgbClr val="5E6A7D"/>
                </a:solidFill>
                <a:latin typeface="Microsoft YaHei"/>
              </a:defRPr>
            </a:pPr>
            <a:r>
              <a:t>    高mAP50和mAP50-95指标</a:t>
            </a:r>
          </a:p>
          <a:p>
            <a:pPr>
              <a:spcAft>
                <a:spcPts val="100"/>
              </a:spcAft>
              <a:defRPr sz="1100">
                <a:solidFill>
                  <a:srgbClr val="172033"/>
                </a:solidFill>
                <a:latin typeface="Arial"/>
              </a:defRPr>
            </a:pPr>
            <a:r>
              <a:t>▸ Three-stage fine-tuning improved weak classes</a:t>
            </a:r>
          </a:p>
          <a:p>
            <a:pPr>
              <a:spcAft>
                <a:spcPts val="800"/>
              </a:spcAft>
              <a:defRPr sz="900">
                <a:solidFill>
                  <a:srgbClr val="5E6A7D"/>
                </a:solidFill>
                <a:latin typeface="Microsoft YaHei"/>
              </a:defRPr>
            </a:pPr>
            <a:r>
              <a:t>    三阶段微调改善了弱类别</a:t>
            </a:r>
          </a:p>
          <a:p>
            <a:pPr>
              <a:spcAft>
                <a:spcPts val="100"/>
              </a:spcAft>
              <a:defRPr sz="1100">
                <a:solidFill>
                  <a:srgbClr val="172033"/>
                </a:solidFill>
                <a:latin typeface="Arial"/>
              </a:defRPr>
            </a:pPr>
            <a:r>
              <a:t>▸ Clean JSON output format, no NL explanations</a:t>
            </a:r>
          </a:p>
          <a:p>
            <a:pPr>
              <a:spcAft>
                <a:spcPts val="800"/>
              </a:spcAft>
              <a:defRPr sz="900">
                <a:solidFill>
                  <a:srgbClr val="5E6A7D"/>
                </a:solidFill>
                <a:latin typeface="Microsoft YaHei"/>
              </a:defRPr>
            </a:pPr>
            <a:r>
              <a:t>    干净的JSON输出格式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01168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2011680"/>
            <a:ext cx="3474720" cy="54864"/>
          </a:xfrm>
          <a:prstGeom prst="rect">
            <a:avLst/>
          </a:prstGeom>
          <a:solidFill>
            <a:srgbClr val="C9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21945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94F4F"/>
                </a:solidFill>
                <a:latin typeface="Arial"/>
              </a:defRPr>
            </a:pPr>
            <a:r>
              <a:t>Limitations / 局限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606040"/>
            <a:ext cx="3108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172033"/>
                </a:solidFill>
                <a:latin typeface="Arial"/>
              </a:defRPr>
            </a:pPr>
            <a:r>
              <a:t>▸ Duck ↔ goose confusion (similar body shape &amp; color)</a:t>
            </a:r>
          </a:p>
          <a:p>
            <a:pPr>
              <a:spcAft>
                <a:spcPts val="800"/>
              </a:spcAft>
              <a:defRPr sz="900">
                <a:solidFill>
                  <a:srgbClr val="5E6A7D"/>
                </a:solidFill>
                <a:latin typeface="Microsoft YaHei"/>
              </a:defRPr>
            </a:pPr>
            <a:r>
              <a:t>    鸭鹅混淆（体型颜色相似）</a:t>
            </a:r>
          </a:p>
          <a:p>
            <a:pPr>
              <a:spcAft>
                <a:spcPts val="100"/>
              </a:spcAft>
              <a:defRPr sz="1100">
                <a:solidFill>
                  <a:srgbClr val="172033"/>
                </a:solidFill>
                <a:latin typeface="Arial"/>
              </a:defRPr>
            </a:pPr>
            <a:r>
              <a:t>▸ Fox/wolf/dog confusion (similar texture &amp; pose)</a:t>
            </a:r>
          </a:p>
          <a:p>
            <a:pPr>
              <a:spcAft>
                <a:spcPts val="800"/>
              </a:spcAft>
              <a:defRPr sz="900">
                <a:solidFill>
                  <a:srgbClr val="5E6A7D"/>
                </a:solidFill>
                <a:latin typeface="Microsoft YaHei"/>
              </a:defRPr>
            </a:pPr>
            <a:r>
              <a:t>    狐狸/狼/狗混淆（纹理姿态相似）</a:t>
            </a:r>
          </a:p>
          <a:p>
            <a:pPr>
              <a:spcAft>
                <a:spcPts val="100"/>
              </a:spcAft>
              <a:defRPr sz="1100">
                <a:solidFill>
                  <a:srgbClr val="172033"/>
                </a:solidFill>
                <a:latin typeface="Arial"/>
              </a:defRPr>
            </a:pPr>
            <a:r>
              <a:t>▸ Occlusion &amp; tightly grouped animals</a:t>
            </a:r>
          </a:p>
          <a:p>
            <a:pPr>
              <a:spcAft>
                <a:spcPts val="800"/>
              </a:spcAft>
              <a:defRPr sz="900">
                <a:solidFill>
                  <a:srgbClr val="5E6A7D"/>
                </a:solidFill>
                <a:latin typeface="Microsoft YaHei"/>
              </a:defRPr>
            </a:pPr>
            <a:r>
              <a:t>    遮挡和密集排列动物</a:t>
            </a:r>
          </a:p>
          <a:p>
            <a:pPr>
              <a:spcAft>
                <a:spcPts val="100"/>
              </a:spcAft>
              <a:defRPr sz="1100">
                <a:solidFill>
                  <a:srgbClr val="172033"/>
                </a:solidFill>
                <a:latin typeface="Arial"/>
              </a:defRPr>
            </a:pPr>
            <a:r>
              <a:t>▸ Synthetic scene generalization</a:t>
            </a:r>
          </a:p>
          <a:p>
            <a:pPr>
              <a:spcAft>
                <a:spcPts val="800"/>
              </a:spcAft>
              <a:defRPr sz="900">
                <a:solidFill>
                  <a:srgbClr val="5E6A7D"/>
                </a:solidFill>
                <a:latin typeface="Microsoft YaHei"/>
              </a:defRPr>
            </a:pPr>
            <a:r>
              <a:t>    合成场景泛化能力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011680"/>
            <a:ext cx="35661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2011680"/>
            <a:ext cx="3566160" cy="54864"/>
          </a:xfrm>
          <a:prstGeom prst="rect">
            <a:avLst/>
          </a:prstGeom>
          <a:solidFill>
            <a:srgbClr val="24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194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45A9A"/>
                </a:solidFill>
                <a:latin typeface="Arial"/>
              </a:defRPr>
            </a:pPr>
            <a:r>
              <a:t>Solutions / 解决方案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606040"/>
            <a:ext cx="3200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172033"/>
                </a:solidFill>
                <a:latin typeface="Arial"/>
              </a:defRPr>
            </a:pPr>
            <a:r>
              <a:t>▸ Custom post-processing for duplicate suppression</a:t>
            </a:r>
          </a:p>
          <a:p>
            <a:pPr>
              <a:spcAft>
                <a:spcPts val="800"/>
              </a:spcAft>
              <a:defRPr sz="900">
                <a:solidFill>
                  <a:srgbClr val="5E6A7D"/>
                </a:solidFill>
                <a:latin typeface="Microsoft YaHei"/>
              </a:defRPr>
            </a:pPr>
            <a:r>
              <a:t>    自定义后处理抑制重复框</a:t>
            </a:r>
          </a:p>
          <a:p>
            <a:pPr>
              <a:spcAft>
                <a:spcPts val="100"/>
              </a:spcAft>
              <a:defRPr sz="1100">
                <a:solidFill>
                  <a:srgbClr val="172033"/>
                </a:solidFill>
                <a:latin typeface="Arial"/>
              </a:defRPr>
            </a:pPr>
            <a:r>
              <a:t>▸ Targeted fine-tuning on weak-class datasets</a:t>
            </a:r>
          </a:p>
          <a:p>
            <a:pPr>
              <a:spcAft>
                <a:spcPts val="800"/>
              </a:spcAft>
              <a:defRPr sz="900">
                <a:solidFill>
                  <a:srgbClr val="5E6A7D"/>
                </a:solidFill>
                <a:latin typeface="Microsoft YaHei"/>
              </a:defRPr>
            </a:pPr>
            <a:r>
              <a:t>    针对弱类数据集定向微调</a:t>
            </a:r>
          </a:p>
          <a:p>
            <a:pPr>
              <a:spcAft>
                <a:spcPts val="100"/>
              </a:spcAft>
              <a:defRPr sz="1100">
                <a:solidFill>
                  <a:srgbClr val="172033"/>
                </a:solidFill>
                <a:latin typeface="Arial"/>
              </a:defRPr>
            </a:pPr>
            <a:r>
              <a:t>▸ Balanced thresholds to avoid aggressive filtering</a:t>
            </a:r>
          </a:p>
          <a:p>
            <a:pPr>
              <a:spcAft>
                <a:spcPts val="800"/>
              </a:spcAft>
              <a:defRPr sz="900">
                <a:solidFill>
                  <a:srgbClr val="5E6A7D"/>
                </a:solidFill>
                <a:latin typeface="Microsoft YaHei"/>
              </a:defRPr>
            </a:pPr>
            <a:r>
              <a:t>    平衡阈值避免激进过滤</a:t>
            </a:r>
          </a:p>
          <a:p>
            <a:pPr>
              <a:spcAft>
                <a:spcPts val="100"/>
              </a:spcAft>
              <a:defRPr sz="1100">
                <a:solidFill>
                  <a:srgbClr val="172033"/>
                </a:solidFill>
                <a:latin typeface="Arial"/>
              </a:defRPr>
            </a:pPr>
            <a:r>
              <a:t>▸ Maintained 20-class head throughout all stages</a:t>
            </a:r>
          </a:p>
          <a:p>
            <a:pPr>
              <a:spcAft>
                <a:spcPts val="800"/>
              </a:spcAft>
              <a:defRPr sz="900">
                <a:solidFill>
                  <a:srgbClr val="5E6A7D"/>
                </a:solidFill>
                <a:latin typeface="Microsoft YaHei"/>
              </a:defRPr>
            </a:pPr>
            <a:r>
              <a:t>    全程保持20类输出头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572000"/>
            <a:ext cx="11247120" cy="1645920"/>
          </a:xfrm>
          <a:prstGeom prst="roundRect">
            <a:avLst/>
          </a:prstGeom>
          <a:solidFill>
            <a:srgbClr val="D9EAF7"/>
          </a:solidFill>
          <a:ln w="12700">
            <a:solidFill>
              <a:srgbClr val="245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709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45A9A"/>
                </a:solidFill>
                <a:latin typeface="Arial"/>
              </a:defRPr>
            </a:pPr>
            <a:r>
              <a:t>Key Findings / 关键发现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07492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00">
                <a:solidFill>
                  <a:srgbClr val="172033"/>
                </a:solidFill>
                <a:latin typeface="Arial"/>
              </a:defRPr>
            </a:pPr>
            <a:r>
              <a:t>▸ Maintaining 20-class output during fine-tuning prevented vocabulary loss while improving weak categories</a:t>
            </a:r>
          </a:p>
          <a:p>
            <a:pPr>
              <a:spcAft>
                <a:spcPts val="800"/>
              </a:spcAft>
              <a:defRPr sz="1000">
                <a:solidFill>
                  <a:srgbClr val="5E6A7D"/>
                </a:solidFill>
                <a:latin typeface="Microsoft YaHei"/>
              </a:defRPr>
            </a:pPr>
            <a:r>
              <a:t>    微调时保持20类输出避免了词汇丢失同时改善了弱类别</a:t>
            </a:r>
          </a:p>
          <a:p>
            <a:pPr>
              <a:spcAft>
                <a:spcPts val="100"/>
              </a:spcAft>
              <a:defRPr sz="1200">
                <a:solidFill>
                  <a:srgbClr val="172033"/>
                </a:solidFill>
                <a:latin typeface="Arial"/>
              </a:defRPr>
            </a:pPr>
            <a:r>
              <a:t>▸ Balanced post-processing (IoU=0.40 for same-class, 0.62 for cross-class) reduced duplicates without hurting recall</a:t>
            </a:r>
          </a:p>
          <a:p>
            <a:pPr>
              <a:spcAft>
                <a:spcPts val="800"/>
              </a:spcAft>
              <a:defRPr sz="1000">
                <a:solidFill>
                  <a:srgbClr val="5E6A7D"/>
                </a:solidFill>
                <a:latin typeface="Microsoft YaHei"/>
              </a:defRPr>
            </a:pPr>
            <a:r>
              <a:t>    平衡后处理（同类别IoU=0.40，跨类别IoU=0.62）减少重复但未损害召回率</a:t>
            </a:r>
          </a:p>
          <a:p>
            <a:pPr>
              <a:spcAft>
                <a:spcPts val="100"/>
              </a:spcAft>
              <a:defRPr sz="1200">
                <a:solidFill>
                  <a:srgbClr val="172033"/>
                </a:solidFill>
                <a:latin typeface="Arial"/>
              </a:defRPr>
            </a:pPr>
            <a:r>
              <a:t>▸ Scoring rule strongly penalizes false positive categories (5 pts each) → conservative threshold tuning needed</a:t>
            </a:r>
          </a:p>
          <a:p>
            <a:pPr>
              <a:spcAft>
                <a:spcPts val="800"/>
              </a:spcAft>
              <a:defRPr sz="1000">
                <a:solidFill>
                  <a:srgbClr val="5E6A7D"/>
                </a:solidFill>
                <a:latin typeface="Microsoft YaHei"/>
              </a:defRPr>
            </a:pPr>
            <a:r>
              <a:t>    评分规则对误报类别惩罚严厉（每类5分）→ 需要保守的阈值调优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446520"/>
            <a:ext cx="11247120" cy="9144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E6A7D"/>
                </a:solidFill>
                <a:latin typeface="Arial"/>
              </a:defRPr>
            </a:pPr>
            <a:r>
              <a:t>YOLO11s Animal Detection &amp; Counting | Deep Learning Final Project | 深度学习期末项目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45A9A"/>
                </a:solidFill>
                <a:latin typeface="Arial"/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37160" cy="137160"/>
          </a:xfrm>
          <a:prstGeom prst="rect">
            <a:avLst/>
          </a:prstGeom>
          <a:solidFill>
            <a:srgbClr val="32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45A9A"/>
                </a:solidFill>
                <a:latin typeface="Arial"/>
              </a:defRPr>
            </a:pPr>
            <a:r>
              <a:t>TEAM CONTRIBUTIONS  |  团队贡献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172033"/>
                </a:solidFill>
                <a:latin typeface="Arial"/>
              </a:defRPr>
            </a:pPr>
            <a:r>
              <a:t>Each member's role and contribution to the project.</a:t>
            </a:r>
          </a:p>
          <a:p>
            <a:pPr>
              <a:spcAft>
                <a:spcPts val="200"/>
              </a:spcAft>
              <a:defRPr sz="2200">
                <a:solidFill>
                  <a:srgbClr val="5E6A7D"/>
                </a:solidFill>
                <a:latin typeface="Microsoft YaHei"/>
              </a:defRPr>
            </a:pPr>
            <a:r>
              <a:t>每位成员在项目中的角色与贡献。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356616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3566160" cy="54864"/>
          </a:xfrm>
          <a:prstGeom prst="rect">
            <a:avLst/>
          </a:prstGeom>
          <a:solidFill>
            <a:srgbClr val="24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45A9A"/>
                </a:solidFill>
                <a:latin typeface="Arial"/>
              </a:defRPr>
            </a:pPr>
            <a:r>
              <a:t>Member 1 / 成员1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E6A7D"/>
                </a:solidFill>
                <a:latin typeface="Arial"/>
              </a:defRPr>
            </a:pPr>
            <a:r>
              <a:t>ID: 待填写 / TBD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926080"/>
            <a:ext cx="3200400" cy="9144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063240"/>
            <a:ext cx="3200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72033"/>
                </a:solidFill>
                <a:latin typeface="Arial"/>
              </a:defRPr>
            </a:pPr>
            <a:r>
              <a:t>▸ Dataset collection &amp; merging / 数据集收集与合并</a:t>
            </a:r>
          </a:p>
          <a:p>
            <a:pPr>
              <a:spcAft>
                <a:spcPts val="600"/>
              </a:spcAft>
              <a:defRPr sz="1200">
                <a:solidFill>
                  <a:srgbClr val="172033"/>
                </a:solidFill>
                <a:latin typeface="Arial"/>
              </a:defRPr>
            </a:pPr>
            <a:r>
              <a:t>▸ LabelMe JSON annotation workflow / LabelMe JSON标注流程</a:t>
            </a:r>
          </a:p>
          <a:p>
            <a:pPr>
              <a:spcAft>
                <a:spcPts val="600"/>
              </a:spcAft>
              <a:defRPr sz="1200">
                <a:solidFill>
                  <a:srgbClr val="172033"/>
                </a:solidFill>
                <a:latin typeface="Arial"/>
              </a:defRPr>
            </a:pPr>
            <a:r>
              <a:t>▸ Validation data organization / 验证数据组织</a:t>
            </a:r>
          </a:p>
          <a:p>
            <a:pPr>
              <a:spcAft>
                <a:spcPts val="600"/>
              </a:spcAft>
              <a:defRPr sz="1200">
                <a:solidFill>
                  <a:srgbClr val="172033"/>
                </a:solidFill>
                <a:latin typeface="Arial"/>
              </a:defRPr>
            </a:pPr>
            <a:r>
              <a:t>▸ Data preprocessing scripts / 数据预处理脚本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103120"/>
            <a:ext cx="356616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2103120"/>
            <a:ext cx="3566160" cy="54864"/>
          </a:xfrm>
          <a:prstGeom prst="rect">
            <a:avLst/>
          </a:prstGeom>
          <a:solidFill>
            <a:srgbClr val="4B9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2286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B9B68"/>
                </a:solidFill>
                <a:latin typeface="Arial"/>
              </a:defRPr>
            </a:pPr>
            <a:r>
              <a:t>Member 2 / 成员2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6060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E6A7D"/>
                </a:solidFill>
                <a:latin typeface="Arial"/>
              </a:defRPr>
            </a:pPr>
            <a:r>
              <a:t>ID: 待填写 / TBD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26080"/>
            <a:ext cx="3200400" cy="9144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3063240"/>
            <a:ext cx="3200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72033"/>
                </a:solidFill>
                <a:latin typeface="Arial"/>
              </a:defRPr>
            </a:pPr>
            <a:r>
              <a:t>▸ YOLO model training &amp; fine-tuning / YOLO模型训练与微调</a:t>
            </a:r>
          </a:p>
          <a:p>
            <a:pPr>
              <a:spcAft>
                <a:spcPts val="600"/>
              </a:spcAft>
              <a:defRPr sz="1200">
                <a:solidFill>
                  <a:srgbClr val="172033"/>
                </a:solidFill>
                <a:latin typeface="Arial"/>
              </a:defRPr>
            </a:pPr>
            <a:r>
              <a:t>▸ CUDA environment setup &amp; optimization / CUDA环境配置与优化</a:t>
            </a:r>
          </a:p>
          <a:p>
            <a:pPr>
              <a:spcAft>
                <a:spcPts val="600"/>
              </a:spcAft>
              <a:defRPr sz="1200">
                <a:solidFill>
                  <a:srgbClr val="172033"/>
                </a:solidFill>
                <a:latin typeface="Arial"/>
              </a:defRPr>
            </a:pPr>
            <a:r>
              <a:t>▸ Model metric tracking &amp; selection / 模型指标跟踪与选型</a:t>
            </a:r>
          </a:p>
          <a:p>
            <a:pPr>
              <a:spcAft>
                <a:spcPts val="600"/>
              </a:spcAft>
              <a:defRPr sz="1200">
                <a:solidFill>
                  <a:srgbClr val="172033"/>
                </a:solidFill>
                <a:latin typeface="Arial"/>
              </a:defRPr>
            </a:pPr>
            <a:r>
              <a:t>▸ Hyperparameter tuning / 超参数调优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2103120"/>
            <a:ext cx="356616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2103120"/>
            <a:ext cx="3566160" cy="54864"/>
          </a:xfrm>
          <a:prstGeom prst="rect">
            <a:avLst/>
          </a:prstGeom>
          <a:solidFill>
            <a:srgbClr val="E28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286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8A32"/>
                </a:solidFill>
                <a:latin typeface="Arial"/>
              </a:defRPr>
            </a:pPr>
            <a:r>
              <a:t>Member 3 / 成员3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6060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E6A7D"/>
                </a:solidFill>
                <a:latin typeface="Arial"/>
              </a:defRPr>
            </a:pPr>
            <a:r>
              <a:t>ID: 待填写 / TBD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2926080"/>
            <a:ext cx="3200400" cy="9144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3063240"/>
            <a:ext cx="3200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72033"/>
                </a:solidFill>
                <a:latin typeface="Arial"/>
              </a:defRPr>
            </a:pPr>
            <a:r>
              <a:t>▸ Evaluation &amp; inference scripts / 评估与推理脚本</a:t>
            </a:r>
          </a:p>
          <a:p>
            <a:pPr>
              <a:spcAft>
                <a:spcPts val="600"/>
              </a:spcAft>
              <a:defRPr sz="1200">
                <a:solidFill>
                  <a:srgbClr val="172033"/>
                </a:solidFill>
                <a:latin typeface="Arial"/>
              </a:defRPr>
            </a:pPr>
            <a:r>
              <a:t>▸ Duplicate-box post-processing algorithm / 重复框后处理算法</a:t>
            </a:r>
          </a:p>
          <a:p>
            <a:pPr>
              <a:spcAft>
                <a:spcPts val="600"/>
              </a:spcAft>
              <a:defRPr sz="1200">
                <a:solidFill>
                  <a:srgbClr val="172033"/>
                </a:solidFill>
                <a:latin typeface="Arial"/>
              </a:defRPr>
            </a:pPr>
            <a:r>
              <a:t>▸ Report, PPT &amp; documentation / 报告、PPT与文档</a:t>
            </a:r>
          </a:p>
          <a:p>
            <a:pPr>
              <a:spcAft>
                <a:spcPts val="600"/>
              </a:spcAft>
              <a:defRPr sz="1200">
                <a:solidFill>
                  <a:srgbClr val="172033"/>
                </a:solidFill>
                <a:latin typeface="Arial"/>
              </a:defRPr>
            </a:pPr>
            <a:r>
              <a:t>▸ Error analysis &amp; validation scoring / 错误分析与验证评分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6446520"/>
            <a:ext cx="11247120" cy="9144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E6A7D"/>
                </a:solidFill>
                <a:latin typeface="Arial"/>
              </a:defRPr>
            </a:pPr>
            <a:r>
              <a:t>YOLO11s Animal Detection &amp; Counting | Deep Learning Final Project | 深度学习期末项目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45A9A"/>
                </a:solidFill>
                <a:latin typeface="Arial"/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rial"/>
              </a:defRPr>
            </a:pPr>
            <a:r>
              <a:t>Conclusion / 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CE8F8"/>
                </a:solidFill>
                <a:latin typeface="Arial"/>
              </a:defRPr>
            </a:pPr>
            <a:r>
              <a:t>A reproducible YOLO-based animal counting system covering data preparation, fine-tuning, validation scoring, JSON export, and visual annotation.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D2F0"/>
                </a:solidFill>
                <a:latin typeface="Arial"/>
              </a:defRPr>
            </a:pPr>
            <a:r>
              <a:t>可复现的基于YOLO的动物计数系统，涵盖数据准备、微调、验证评分、JSON导出和可视化标注。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60320"/>
            <a:ext cx="3566160" cy="3474720"/>
          </a:xfrm>
          <a:prstGeom prst="roundRect">
            <a:avLst/>
          </a:prstGeom>
          <a:solidFill>
            <a:srgbClr val="142A46"/>
          </a:solidFill>
          <a:ln w="12700">
            <a:solidFill>
              <a:srgbClr val="355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B9B68"/>
                </a:solidFill>
                <a:latin typeface="Arial"/>
              </a:defRPr>
            </a:pPr>
            <a:r>
              <a:t>Achievements / 成果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▸ High mAP50 of 0.978 across 20 animal classes</a:t>
            </a:r>
          </a:p>
          <a:p>
            <a:pPr>
              <a:spcAft>
                <a:spcPts val="300"/>
              </a:spcAft>
              <a:defRPr sz="1100">
                <a:solidFill>
                  <a:srgbClr val="DCE8F8"/>
                </a:solidFill>
                <a:latin typeface="Microsoft YaHei"/>
              </a:defRPr>
            </a:pPr>
            <a:r>
              <a:t>    20个动物类别mAP50达0.978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▸ Validation score of 90.94/100 on 15-image set</a:t>
            </a:r>
          </a:p>
          <a:p>
            <a:pPr>
              <a:spcAft>
                <a:spcPts val="300"/>
              </a:spcAft>
              <a:defRPr sz="1100">
                <a:solidFill>
                  <a:srgbClr val="DCE8F8"/>
                </a:solidFill>
                <a:latin typeface="Microsoft YaHei"/>
              </a:defRPr>
            </a:pPr>
            <a:r>
              <a:t>    15张验证集评分90.94/100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▸ Clean dictionary-format JSON output</a:t>
            </a:r>
          </a:p>
          <a:p>
            <a:pPr>
              <a:spcAft>
                <a:spcPts val="300"/>
              </a:spcAft>
              <a:defRPr sz="1100">
                <a:solidFill>
                  <a:srgbClr val="DCE8F8"/>
                </a:solidFill>
                <a:latin typeface="Microsoft YaHei"/>
              </a:defRPr>
            </a:pPr>
            <a:r>
              <a:t>    干净的字典格式JSON输出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▸ Complete code + report + PPT deliverables</a:t>
            </a:r>
          </a:p>
          <a:p>
            <a:pPr>
              <a:spcAft>
                <a:spcPts val="300"/>
              </a:spcAft>
              <a:defRPr sz="1100">
                <a:solidFill>
                  <a:srgbClr val="DCE8F8"/>
                </a:solidFill>
                <a:latin typeface="Microsoft YaHei"/>
              </a:defRPr>
            </a:pPr>
            <a:r>
              <a:t>    完整的代码+报告+PPT交付物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560320"/>
            <a:ext cx="3566160" cy="3474720"/>
          </a:xfrm>
          <a:prstGeom prst="roundRect">
            <a:avLst/>
          </a:prstGeom>
          <a:solidFill>
            <a:srgbClr val="142A46"/>
          </a:solidFill>
          <a:ln w="12700">
            <a:solidFill>
              <a:srgbClr val="355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743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8A32"/>
                </a:solidFill>
                <a:latin typeface="Arial"/>
              </a:defRPr>
            </a:pPr>
            <a:r>
              <a:t>Limitations / 局限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320040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▸ Duck/goose and fox/wolf/dog confusions persist</a:t>
            </a:r>
          </a:p>
          <a:p>
            <a:pPr>
              <a:spcAft>
                <a:spcPts val="300"/>
              </a:spcAft>
              <a:defRPr sz="1100">
                <a:solidFill>
                  <a:srgbClr val="DCE8F8"/>
                </a:solidFill>
                <a:latin typeface="Microsoft YaHei"/>
              </a:defRPr>
            </a:pPr>
            <a:r>
              <a:t>    鸭/鹅和狐狸/狼/狗的混淆仍然存在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▸ Occlusion &amp; tight grouping cause count errors</a:t>
            </a:r>
          </a:p>
          <a:p>
            <a:pPr>
              <a:spcAft>
                <a:spcPts val="300"/>
              </a:spcAft>
              <a:defRPr sz="1100">
                <a:solidFill>
                  <a:srgbClr val="DCE8F8"/>
                </a:solidFill>
                <a:latin typeface="Microsoft YaHei"/>
              </a:defRPr>
            </a:pPr>
            <a:r>
              <a:t>    遮挡和密集排列导致计数错误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▸ Synthetic-to-real domain gap possible</a:t>
            </a:r>
          </a:p>
          <a:p>
            <a:pPr>
              <a:spcAft>
                <a:spcPts val="300"/>
              </a:spcAft>
              <a:defRPr sz="1100">
                <a:solidFill>
                  <a:srgbClr val="DCE8F8"/>
                </a:solidFill>
                <a:latin typeface="Microsoft YaHei"/>
              </a:defRPr>
            </a:pPr>
            <a:r>
              <a:t>    合成到真实场景可能存在域差距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560320"/>
            <a:ext cx="3566160" cy="3474720"/>
          </a:xfrm>
          <a:prstGeom prst="roundRect">
            <a:avLst/>
          </a:prstGeom>
          <a:solidFill>
            <a:srgbClr val="142A46"/>
          </a:solidFill>
          <a:ln w="12700">
            <a:solidFill>
              <a:srgbClr val="355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743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45A9A"/>
                </a:solidFill>
                <a:latin typeface="Arial"/>
              </a:defRPr>
            </a:pPr>
            <a:r>
              <a:t>Next Steps / 后续工作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20040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▸ Add manually verified hard examples for weak classes</a:t>
            </a:r>
          </a:p>
          <a:p>
            <a:pPr>
              <a:spcAft>
                <a:spcPts val="300"/>
              </a:spcAft>
              <a:defRPr sz="1100">
                <a:solidFill>
                  <a:srgbClr val="DCE8F8"/>
                </a:solidFill>
                <a:latin typeface="Microsoft YaHei"/>
              </a:defRPr>
            </a:pPr>
            <a:r>
              <a:t>    增加弱类别的人工验证难例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▸ Continue targeted fine-tuning with stricter review</a:t>
            </a:r>
          </a:p>
          <a:p>
            <a:pPr>
              <a:spcAft>
                <a:spcPts val="300"/>
              </a:spcAft>
              <a:defRPr sz="1100">
                <a:solidFill>
                  <a:srgbClr val="DCE8F8"/>
                </a:solidFill>
                <a:latin typeface="Microsoft YaHei"/>
              </a:defRPr>
            </a:pPr>
            <a:r>
              <a:t>    以更严格审查继续定向微调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▸ Explore test-time augmentation for robustness</a:t>
            </a:r>
          </a:p>
          <a:p>
            <a:pPr>
              <a:spcAft>
                <a:spcPts val="300"/>
              </a:spcAft>
              <a:defRPr sz="1100">
                <a:solidFill>
                  <a:srgbClr val="DCE8F8"/>
                </a:solidFill>
                <a:latin typeface="Microsoft YaHei"/>
              </a:defRPr>
            </a:pPr>
            <a:r>
              <a:t>    探索测试时增强提升鲁棒性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▸ Improve duck/goose discrimination features</a:t>
            </a:r>
          </a:p>
          <a:p>
            <a:pPr>
              <a:spcAft>
                <a:spcPts val="300"/>
              </a:spcAft>
              <a:defRPr sz="1100">
                <a:solidFill>
                  <a:srgbClr val="DCE8F8"/>
                </a:solidFill>
                <a:latin typeface="Microsoft YaHei"/>
              </a:defRPr>
            </a:pPr>
            <a:r>
              <a:t>    改善鸭/鹅区分特征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309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2F0"/>
                </a:solidFill>
                <a:latin typeface="Arial"/>
              </a:defRPr>
            </a:pPr>
            <a:r>
              <a:t>Final Deliverables / 最终交付物: Report / 报告  |  PPT  |  Source Code / 源代码  |  Evaluation JSON / 评估JSON  |  Annotated Images / 标注图片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446520"/>
            <a:ext cx="11247120" cy="9144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E6A7D"/>
                </a:solidFill>
                <a:latin typeface="Arial"/>
              </a:defRPr>
            </a:pPr>
            <a:r>
              <a:t>YOLO11s Animal Detection &amp; Counting | Deep Learning Final Project | 深度学习期末项目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45A9A"/>
                </a:solidFill>
                <a:latin typeface="Arial"/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