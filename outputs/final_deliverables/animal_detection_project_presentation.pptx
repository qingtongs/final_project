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13c6dfeac74b44" /><Relationship Type="http://schemas.openxmlformats.org/officeDocument/2006/relationships/extended-properties" Target="/docProps/app.xml" Id="Rb9e6391cde524db7" /><Relationship Type="http://schemas.openxmlformats.org/officeDocument/2006/relationships/officeDocument" Target="/ppt/presentation.xml" Id="Rd89dbb6b162044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0ff7c841f84f3c"/>
  </p:sldMasterIdLst>
  <p:notesMasterIdLst>
    <p:notesMasterId xmlns:r="http://schemas.openxmlformats.org/officeDocument/2006/relationships" r:id="R19484c91212f46b1"/>
  </p:notesMasterIdLst>
  <p:sldIdLst>
    <p:sldId xmlns:r="http://schemas.openxmlformats.org/officeDocument/2006/relationships" id="256" r:id="R16e4fdb625ef42f7"/>
    <p:sldId xmlns:r="http://schemas.openxmlformats.org/officeDocument/2006/relationships" id="257" r:id="R707533cb66324054"/>
    <p:sldId xmlns:r="http://schemas.openxmlformats.org/officeDocument/2006/relationships" id="258" r:id="Re26e4fc8cc304245"/>
    <p:sldId xmlns:r="http://schemas.openxmlformats.org/officeDocument/2006/relationships" id="259" r:id="R3ab35c6beace4744"/>
    <p:sldId xmlns:r="http://schemas.openxmlformats.org/officeDocument/2006/relationships" id="260" r:id="R2a76b19701544676"/>
    <p:sldId xmlns:r="http://schemas.openxmlformats.org/officeDocument/2006/relationships" id="261" r:id="R9a1f7663a63a4aa2"/>
    <p:sldId xmlns:r="http://schemas.openxmlformats.org/officeDocument/2006/relationships" id="262" r:id="R49b6520c7ffe41dc"/>
    <p:sldId xmlns:r="http://schemas.openxmlformats.org/officeDocument/2006/relationships" id="263" r:id="R490fdbdf314a4ec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af4956c9e14402" /><Relationship Type="http://schemas.openxmlformats.org/officeDocument/2006/relationships/slideMaster" Target="/ppt/slideMasters/slideMaster1.xml" Id="R670ff7c841f84f3c" /><Relationship Type="http://schemas.openxmlformats.org/officeDocument/2006/relationships/notesMaster" Target="/ppt/notesMasters/notesMaster1.xml" Id="R19484c91212f46b1" /><Relationship Type="http://schemas.openxmlformats.org/officeDocument/2006/relationships/presProps" Target="/ppt/presProps.xml" Id="Rc30d3fc76dc0495a" /><Relationship Type="http://schemas.openxmlformats.org/officeDocument/2006/relationships/viewProps" Target="/ppt/viewProps.xml" Id="R6c335193611142d4" /><Relationship Type="http://schemas.openxmlformats.org/officeDocument/2006/relationships/tableStyles" Target="/ppt/tableStyles.xml" Id="R25b1e15fa9004c53" /><Relationship Type="http://schemas.openxmlformats.org/officeDocument/2006/relationships/slide" Target="/ppt/slides/slide1.xml" Id="R16e4fdb625ef42f7" /><Relationship Type="http://schemas.openxmlformats.org/officeDocument/2006/relationships/slide" Target="/ppt/slides/slide2.xml" Id="R707533cb66324054" /><Relationship Type="http://schemas.openxmlformats.org/officeDocument/2006/relationships/slide" Target="/ppt/slides/slide3.xml" Id="Re26e4fc8cc304245" /><Relationship Type="http://schemas.openxmlformats.org/officeDocument/2006/relationships/slide" Target="/ppt/slides/slide4.xml" Id="R3ab35c6beace4744" /><Relationship Type="http://schemas.openxmlformats.org/officeDocument/2006/relationships/slide" Target="/ppt/slides/slide5.xml" Id="R2a76b19701544676" /><Relationship Type="http://schemas.openxmlformats.org/officeDocument/2006/relationships/slide" Target="/ppt/slides/slide6.xml" Id="R9a1f7663a63a4aa2" /><Relationship Type="http://schemas.openxmlformats.org/officeDocument/2006/relationships/slide" Target="/ppt/slides/slide7.xml" Id="R49b6520c7ffe41dc" /><Relationship Type="http://schemas.openxmlformats.org/officeDocument/2006/relationships/slide" Target="/ppt/slides/slide8.xml" Id="R490fdbdf314a4e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d8d541b1c44d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64008710754062" /><Relationship Type="http://schemas.openxmlformats.org/officeDocument/2006/relationships/notesMaster" Target="/ppt/notesMasters/notesMaster1.xml" Id="R7a51aef28cf547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c28c5eede0f426c" /><Relationship Type="http://schemas.openxmlformats.org/officeDocument/2006/relationships/notesMaster" Target="/ppt/notesMasters/notesMaster1.xml" Id="R0ab1c216682e4fa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a9ccc7d60a4399" /><Relationship Type="http://schemas.openxmlformats.org/officeDocument/2006/relationships/notesMaster" Target="/ppt/notesMasters/notesMaster1.xml" Id="R49a2bb6440564d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6b5ecf935a4bdf" /><Relationship Type="http://schemas.openxmlformats.org/officeDocument/2006/relationships/notesMaster" Target="/ppt/notesMasters/notesMaster1.xml" Id="R8f013c058dd54a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6141db43cc4c53" /><Relationship Type="http://schemas.openxmlformats.org/officeDocument/2006/relationships/notesMaster" Target="/ppt/notesMasters/notesMaster1.xml" Id="R3233d82f245441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4fe0567fb74e90" /><Relationship Type="http://schemas.openxmlformats.org/officeDocument/2006/relationships/notesMaster" Target="/ppt/notesMasters/notesMaster1.xml" Id="R2e644c7a4a894b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9177ea6795481a" /><Relationship Type="http://schemas.openxmlformats.org/officeDocument/2006/relationships/notesMaster" Target="/ppt/notesMasters/notesMaster1.xml" Id="R1ca8a119eb9f4b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4b3809236b4ed9" /><Relationship Type="http://schemas.openxmlformats.org/officeDocument/2006/relationships/notesMaster" Target="/ppt/notesMasters/notesMaster1.xml" Id="R8372c9d703134c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e21ac521c24d9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6d4cb868284e62" /><Relationship Type="http://schemas.openxmlformats.org/officeDocument/2006/relationships/slideLayout" Target="/ppt/slideLayouts/slideLayout1.xml" Id="Re4121da60551442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121da6055144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972f36d19b46e5" /><Relationship Type="http://schemas.openxmlformats.org/officeDocument/2006/relationships/notesSlide" Target="/ppt/notesSlides/notesSlide1.xml" Id="Rb0ecfc0cf64c45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da0c21c70c4afd" /><Relationship Type="http://schemas.openxmlformats.org/officeDocument/2006/relationships/notesSlide" Target="/ppt/notesSlides/notesSlide2.xml" Id="R5bbe49001d264a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a2925c23284d14" /><Relationship Type="http://schemas.openxmlformats.org/officeDocument/2006/relationships/notesSlide" Target="/ppt/notesSlides/notesSlide3.xml" Id="R5728f471dfc046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d5bf95b0c44b27" /><Relationship Type="http://schemas.openxmlformats.org/officeDocument/2006/relationships/notesSlide" Target="/ppt/notesSlides/notesSlide4.xml" Id="R83b3af0289644d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5f30538f0e4cdb" /><Relationship Type="http://schemas.openxmlformats.org/officeDocument/2006/relationships/image" Target="/ppt/media/image.png" Id="Rcadfe3925cde46a6" /><Relationship Type="http://schemas.openxmlformats.org/officeDocument/2006/relationships/notesSlide" Target="/ppt/notesSlides/notesSlide5.xml" Id="R3123297d15e941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12868a04be49a1" /><Relationship Type="http://schemas.openxmlformats.org/officeDocument/2006/relationships/notesSlide" Target="/ppt/notesSlides/notesSlide6.xml" Id="R28fe92d2d21a4e3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c37614c8e746c9" /><Relationship Type="http://schemas.openxmlformats.org/officeDocument/2006/relationships/image" Target="/ppt/media/image2.png" Id="R9015168a15974410" /><Relationship Type="http://schemas.openxmlformats.org/officeDocument/2006/relationships/notesSlide" Target="/ppt/notesSlides/notesSlide7.xml" Id="Rbd4e99a6fac944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8c4adc4b89420b" /><Relationship Type="http://schemas.openxmlformats.org/officeDocument/2006/relationships/notesSlide" Target="/ppt/notesSlides/notesSlide8.xml" Id="Re429887602e7413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789668-F588-4312-972B-9CBEA7F5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F7F9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E53897-A0DB-4BFE-8A90-54E0C4A4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90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0E1A2B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937713-687D-4CCE-976F-854A8553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2857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Animal</a:t>
            </a:r>
          </a:p>
          <a:p xmlns:a="http://schemas.openxmlformats.org/drawingml/2006/main">
            <a: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Detection</a:t>
            </a:r>
          </a:p>
          <a:p xmlns:a="http://schemas.openxmlformats.org/drawingml/2006/main">
            <a: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 Counting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0D8CF6-F350-4845-83FC-7E7339D6D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BD2F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BD2F0"/>
                </a:solidFill>
                <a:latin typeface="Arial"/>
                <a:ea typeface="Arial"/>
                <a:cs typeface="Arial"/>
              </a:rPr>
              <a:t>YOLO11s + custom 20-class fine-tuning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30662D-F081-4C91-9D9E-DBBD8008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428750"/>
            <a:ext cx="1809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AA6E19-047F-4AB0-A32E-B2C5DC5BE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428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ED64A3-9486-4999-A6D5-6BF19BBD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0193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animal categories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109E0C-C7CE-46DB-9C27-97D476CA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428750"/>
            <a:ext cx="1809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F302A8-EA4E-4A60-A9F1-B03DE508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1600200"/>
            <a:ext cx="1428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B9B6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4B9B68"/>
                </a:solidFill>
                <a:latin typeface="Arial"/>
                <a:ea typeface="Arial"/>
                <a:cs typeface="Arial"/>
              </a:rPr>
              <a:t>0.978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D9775C-8A62-4BB1-B067-8D77277B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0193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final mAP50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07E3A4-BAF3-4E15-8E5E-5EA730B7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428750"/>
            <a:ext cx="1809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C64C66-4C32-400B-A4C8-584D881C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600200"/>
            <a:ext cx="1428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28A3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28A32"/>
                </a:solidFill>
                <a:latin typeface="Arial"/>
                <a:ea typeface="Arial"/>
                <a:cs typeface="Arial"/>
              </a:rPr>
              <a:t>90.94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E5B5CE-A66C-4362-AD90-EFE729F64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0193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validation score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C29017-9688-422A-A313-75CCEE6C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289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Output contract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4A95DA-3B0D-4F5B-8123-EC891B78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2900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5A9A"/>
                </a:solidFill>
                <a:latin typeface="Arial"/>
                <a:ea typeface="Arial"/>
                <a:cs typeface="Arial"/>
              </a:rPr>
              <a:t>{"cat": 2, "duck": 1, "deer": 1}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B902BC-91BE-44AF-A95C-D12C75CA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2391DB-D130-436B-A4E1-593E8B63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095750"/>
            <a:ext cx="5600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One image in, one clean dictionary out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1889D5-D36C-45F0-9C36-A33680E7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591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4336B4-DA2C-4061-B219-E84F4FE6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495800"/>
            <a:ext cx="5600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Only supported animal categories are retained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60B9BE-2737-40AC-86A4-4FA7A424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991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94130C-D85A-4165-9C6C-BE3B57B72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895850"/>
            <a:ext cx="5600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Counts are generated after detection filtering and duplicate suppression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4F1260-D0F9-47F4-A517-E381C2C5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584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92DFEF-210B-4B71-98CD-D4102A9B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YOLO11s animal detection and counting | Deep Learning Final Project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D1BA38-265F-4548-BE60-143B114F3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274316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2EA8EC-A38E-498E-8655-317F43398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F7F9FC"/>
            </a:solidFill>
          </a:ln>
        </p:spPr>
      </p:sp>
      <p:sp>
        <p:nvSpPr>
          <p:cNvPr id="2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01040151-3D0B-447D-B238-AD4F75F0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3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2966B8ED-58F1-4F56-B4AF-A8F7219F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TASK REQUIREMENTS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CB649C-2E18-408D-9A17-0DD0238C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191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The project is a structured detection-to-dictionary problem.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D0A3D-9939-4793-BF1E-7F306B1F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7620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The detector must satisfy both visual recognition and strict JSON formatting.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B895F1-BDE1-4113-ACBA-4920119B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1762125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B43BF8-D22C-4B9C-B080-84EB03DB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17621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A9A"/>
          </a:solidFill>
          <a:ln xmlns:a="http://schemas.openxmlformats.org/drawingml/2006/main" w="9525">
            <a:solidFill>
              <a:srgbClr val="245A9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0C715E-9844-486B-AE10-1E4F3C22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860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Detect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4DB834-28B1-477A-BBEB-AB576F641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28950"/>
            <a:ext cx="1409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Find every animal instance and localize it with a box.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CA55B1-462A-4502-9299-02A1C7553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76500"/>
            <a:ext cx="1762125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5A4AE2-094B-4320-9F9C-2B633C083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76500"/>
            <a:ext cx="17621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40DEB4-BDDD-4F3C-A676-EBD8467E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6860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Filter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8CD591-6F08-4908-878F-E5B6725B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28950"/>
            <a:ext cx="1409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Keep only the 20 allowed animal categories.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030BAA-6F33-4AAF-814D-D2D4BF2CB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76500"/>
            <a:ext cx="1762125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142803-312F-4AB0-941D-43651953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76500"/>
            <a:ext cx="17621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8A32"/>
          </a:solidFill>
          <a:ln xmlns:a="http://schemas.openxmlformats.org/drawingml/2006/main" w="9525">
            <a:solidFill>
              <a:srgbClr val="E28A32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6156BE-D24A-4F8D-BB7D-B1201ED1A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6860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Suppress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4AD0A7-93E3-48AE-B447-F78B1AECE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28950"/>
            <a:ext cx="1409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Remove duplicate predictions before counting.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AF6CEA-21E8-4AE8-AEB3-AE4E0B88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476500"/>
            <a:ext cx="1762125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79385D-1ED4-4360-B8A1-C2999379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476500"/>
            <a:ext cx="17621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9B68"/>
          </a:solidFill>
          <a:ln xmlns:a="http://schemas.openxmlformats.org/drawingml/2006/main" w="9525">
            <a:solidFill>
              <a:srgbClr val="4B9B6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6F34D2-1CAB-48EA-A988-D66054A3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860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Count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7396AA-5C11-44C3-81D3-61F52904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28950"/>
            <a:ext cx="1409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Group remaining boxes by class label.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BAA57A-584F-4770-9A40-2631B377B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476500"/>
            <a:ext cx="1762125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C8331A-7CBF-4299-9A08-56E4DB05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476500"/>
            <a:ext cx="17621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F4F"/>
          </a:solidFill>
          <a:ln xmlns:a="http://schemas.openxmlformats.org/drawingml/2006/main" w="9525">
            <a:solidFill>
              <a:srgbClr val="C94F4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BE0BFA-8BAD-40B7-8AA9-4AF2FA0E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6860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Export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A3C248-B288-4973-A740-8591C616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3028950"/>
            <a:ext cx="1409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Write batch results as JSON dictionaries.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98486B-21B3-470C-9495-8774A13B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Scoring focus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DC5720-ED4A-4773-B33C-9CC37E5F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B1E038-36CA-4C96-9FCB-0633305B3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76800"/>
            <a:ext cx="9124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Category recall: does every true species appear?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D46E62-D27A-47E2-9F35-891A73687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72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B77484-6EED-4863-9780-D7A56050D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76850"/>
            <a:ext cx="9124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Counting accuracy: is each class count correct?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961871-7C9B-4CA0-B8EA-F40FBB5A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72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361BCB-6DC7-4E11-BD17-77167701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76900"/>
            <a:ext cx="9124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False positives: each extra wrong category costs 5 points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8EEDCE-361E-40F6-9477-3E31F4E3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584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1AA1FA-0715-46E5-B029-0F2E874D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YOLO11s animal detection and counting | Deep Learning Final Project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009D58-8137-40C2-AC7C-AA14C97E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5063976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09EE59-4254-4719-92E3-F526B74D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F7F9FC"/>
            </a:solidFill>
          </a:ln>
        </p:spPr>
      </p:sp>
      <p:sp>
        <p:nvSpPr>
          <p:cNvPr id="2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03B83242-CD75-4EE9-ACD5-AC9D969C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3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DAD22392-73D9-48CD-8B0C-63EF5C5D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DATASET BUILD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8CDC6A-1A64-4DB8-8F17-1C797E2F5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191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Training data was expanded in stages instead of replacing the class vocabulary.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7A1BA4-2B05-46BB-AFF1-45389964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7620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Every fine-tuning stage preserved the 20-class output head.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39865E-BDEA-4667-A595-3E38151D7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9486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BCBAD6-A2C1-4B91-9E31-903AF7A87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19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Merge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F8DC2C-9D7B-4C9A-90FC-99EEDD60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193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xfz + yzy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94F3D6-CE96-4C89-856E-B1F4AFCD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19350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convert labels to 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C6D42B-67B4-4FDD-8513-AB6AB104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48000"/>
            <a:ext cx="9486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3BFFA2-E80A-437D-A7CC-22B29259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004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Train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9EE232-383B-4662-AFAD-749E16DB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004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animal_dataset1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8EF73A-2548-4664-B486-CEA158D5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00400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20-class YOLO baseline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A2A645-E0C3-4110-8C04-A5E856CC0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29050"/>
            <a:ext cx="9486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20D3F4-063A-493A-96F3-21959F4F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814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Improve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8AFED3-4AE5-482C-972D-E903858D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9814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animal_dataset_5sp_v1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E9964-77F0-4130-AE02-81309CAB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981450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wolf / goose / horse / cow / monkey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277203-60A9-46C7-BAA2-679492DE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0100"/>
            <a:ext cx="9486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5EF4AB-D010-4AC6-B033-CF241C86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625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Continue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C7119B-9295-466A-93A9-0C5B9C237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7625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animal_dataset_6sp_v1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01A207-3975-46E4-AEE1-89471FA61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0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targeted optimization from best model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5A1D1B-73F8-4B48-B35B-CE8C4403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Label format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A38F8D-C15F-4F75-9C79-84837699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657850"/>
            <a:ext cx="742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LabelMe-style JSON for annotation review; YOLO TXT after conversion for training.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E1BE2B-52A6-471F-82FD-BCF2BDBB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584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C6B757-B8BB-449C-BF20-FDCF9F44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YOLO11s animal detection and counting | Deep Learning Final Project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A9F6A9-562C-4581-A5BE-91D206FF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2506679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7C9FF7-AC17-4297-ABD4-0D4AACDE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F7F9FC"/>
            </a:solidFill>
          </a:ln>
        </p:spPr>
      </p:sp>
      <p:sp>
        <p:nvSpPr>
          <p:cNvPr id="2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8F0FF4A4-0237-435F-A2FA-E85A0673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3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FC5A5D27-2CC4-46CE-ACCC-A6B8511ED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MODEL PIPELINE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0F203E-1CEA-4ACA-81F2-85CE5DFB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191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The final system couples YOLO inference with task-specific post-processing.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C09D93-3AF9-476F-B9CE-475132E2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7620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The post-processing layer is important because the grading object is a dictionary, not a box list.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BFA341-3740-474A-8317-E651FA2D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81250"/>
            <a:ext cx="1762125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A6FB9E-5683-4ECC-B4DC-C3DF1F4B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81250"/>
            <a:ext cx="17621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A9A"/>
          </a:solidFill>
          <a:ln xmlns:a="http://schemas.openxmlformats.org/drawingml/2006/main" w="9525">
            <a:solidFill>
              <a:srgbClr val="245A9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950A6A-5424-4986-A679-6CE00539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90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YOLO11s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F7D2D4-B197-496F-92FA-55F84BF6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33700"/>
            <a:ext cx="1409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COCO-pretrained detector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764619-4213-409F-B904-0016F91B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81250"/>
            <a:ext cx="1762125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AC8E2A-447B-4FCB-9EDD-EBEDE07E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81250"/>
            <a:ext cx="17621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22DFFD-8E91-49F8-BC75-50ED5EF48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590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Fine-tune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7AEC3B-7BBC-46CF-A360-5633A4E5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933700"/>
            <a:ext cx="1409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animal_dataset1 -&gt; 5sp -&gt; 6sp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647924-E370-4FF8-B1AC-BD3FC2CB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81250"/>
            <a:ext cx="1762125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7D4F3C-11B3-4C4B-80A5-8122E160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81250"/>
            <a:ext cx="17621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9B68"/>
          </a:solidFill>
          <a:ln xmlns:a="http://schemas.openxmlformats.org/drawingml/2006/main" w="9525">
            <a:solidFill>
              <a:srgbClr val="4B9B6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627B1A-0ABB-445B-83D5-2E3FA836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590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Whitelist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A404F9-AF94-4522-9073-E2E7F5F4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933700"/>
            <a:ext cx="1409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20 supported labels only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DEE6E7-690A-4619-9B11-1D33D3DE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1762125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868CAE-CE41-40A5-B351-68904D711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17621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8A32"/>
          </a:solidFill>
          <a:ln xmlns:a="http://schemas.openxmlformats.org/drawingml/2006/main" w="9525">
            <a:solidFill>
              <a:srgbClr val="E28A3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A25A64-E81E-45EC-9016-B0197DE1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90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NMS+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53A5C4-3C0B-4254-BDBC-068F4791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933700"/>
            <a:ext cx="1409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balanced close-box suppression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96865D-C24B-4687-A656-77059DEC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762125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B3DF7B-09F0-4960-8C4C-0978AACFB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7621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F4F"/>
          </a:solidFill>
          <a:ln xmlns:a="http://schemas.openxmlformats.org/drawingml/2006/main" w="9525">
            <a:solidFill>
              <a:srgbClr val="C94F4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44E79C-202C-4F5D-8EC6-6908A883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590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JSON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C2B8DD-BACB-48B2-8950-910A5164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933700"/>
            <a:ext cx="1409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positive counts only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3EF6D9-B59B-48BD-9A94-60FCF2E2A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767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Training setup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51C5CC-D46C-4BB7-BFFB-26C59512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10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44E615-7472-4CEA-84EA-7B9AF25D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14900"/>
            <a:ext cx="9124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CUDA environment on RTX 3070 Ti Laptop GPU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9C4186-4D64-42A1-9486-B29B457E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10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3B0AB1-F2DD-490B-9F30-E8569BB4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14950"/>
            <a:ext cx="9124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imgsz=640, batch=8, freeze first 10 layers, patience=15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6532BF7-D22E-42AC-8820-84831F5A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10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2B0486-0242-4269-83B2-2374A671D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15000"/>
            <a:ext cx="9124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Augmentations: HSV jitter, translation, scale, flip, mosaic, light mixup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6A4EF6-3444-4447-8950-A7222A9A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584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82C339-CF0F-4E4A-B57C-AD3ABC39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YOLO11s animal detection and counting | Deep Learning Final Project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AB64B0-5B03-413E-9296-CFF5C056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506777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5119E1-25FA-4D91-AF9A-51119FAD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F7F9FC"/>
            </a:solidFill>
          </a:ln>
        </p:spPr>
      </p:sp>
      <p:sp>
        <p:nvSpPr>
          <p:cNvPr id="2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8C054B07-D01B-487D-B108-241847B2A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3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8DED2412-E5C1-48E2-8B77-93551EC9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TRAINING RESULT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557A0E-9F07-48E0-ADF3-529B4079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191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Final fine-tuning converged quickly and selected epoch 2 as best.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B56C91-0EA5-474C-A1BE-A12C4840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7620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Validation metrics remained high while later epochs showed no sustained improvement.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dfe3925cde46a6"/>
          <a:stretch xmlns:a="http://schemas.openxmlformats.org/drawingml/2006/main"/>
        </p:blipFill>
        <p:spPr>
          <a:xfrm xmlns:a="http://schemas.openxmlformats.org/drawingml/2006/main">
            <a:off x="666750" y="2171700"/>
            <a:ext cx="6572250" cy="32861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FF5BE2-EA31-4907-948A-EE2DED4D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1809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136279-3FA5-4E88-B02E-2C2581B9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362200"/>
            <a:ext cx="1428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0.963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A31B17-CC65-4575-AD90-B8764041D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813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7F330A-BE9A-43A9-9143-CF5574A0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190750"/>
            <a:ext cx="1809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0C4156-9912-4CDC-BD35-648D20D0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362200"/>
            <a:ext cx="1428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B9B6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4B9B68"/>
                </a:solidFill>
                <a:latin typeface="Arial"/>
                <a:ea typeface="Arial"/>
                <a:cs typeface="Arial"/>
              </a:rPr>
              <a:t>0.977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8E6F0C-FD78-4A2A-BF81-7A5449F6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813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92D0B3-D655-4880-A949-E4D860A2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24250"/>
            <a:ext cx="1809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A459E7-C0F3-4039-AECB-4F7E81F7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1428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28A3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28A32"/>
                </a:solidFill>
                <a:latin typeface="Arial"/>
                <a:ea typeface="Arial"/>
                <a:cs typeface="Arial"/>
              </a:rPr>
              <a:t>0.978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54521D-C98B-4C71-BCD5-6445B7F2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148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mAP50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3C2277-8E1B-4490-A1C5-5A93F4F4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524250"/>
            <a:ext cx="1809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B0B712-FF44-4D3E-B123-70CE6F3A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695700"/>
            <a:ext cx="1428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94F4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C94F4F"/>
                </a:solidFill>
                <a:latin typeface="Arial"/>
                <a:ea typeface="Arial"/>
                <a:cs typeface="Arial"/>
              </a:rPr>
              <a:t>0.940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9CC23A-45BC-4C46-AC9A-6CAE58CE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1148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mAP50-95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A5147B-9231-49DB-8472-468E63231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95875"/>
            <a:ext cx="323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Best checkpoint: runs/detect/runs/detect/animal_dataset_6sp_20cls_finetune/weights/best.pt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590A08-39CE-4E0D-90BD-D287F9A31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584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9053E6-9444-44FA-B7A5-E0B414C0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YOLO11s animal detection and counting | Deep Learning Final Project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A3593C-E121-4026-889E-4B7597BF4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461371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F3D492-ADFF-4958-BD9E-15164F45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F7F9FC"/>
            </a:solidFill>
          </a:ln>
        </p:spPr>
      </p:sp>
      <p:sp>
        <p:nvSpPr>
          <p:cNvPr id="2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F5F5B5BE-9A95-4E9F-A6DD-36F2EA10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3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A957313E-D48A-47DD-85BC-C47109F4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VALIDATION SCORE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83D7EE-E9A8-44AC-89C6-9D640C91F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191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Balanced duplicate suppression produced a 90.94 average validation score.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D79D17-A4B2-46D2-9586-B82D2892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7620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The remaining errors are concentrated in confusing bird and canine-like classes.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DABF0B-9172-4B4B-998F-435AD24A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1809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E5E9AC-967A-48C8-804E-87B24477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9825"/>
            <a:ext cx="1428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28A3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28A32"/>
                </a:solidFill>
                <a:latin typeface="Arial"/>
                <a:ea typeface="Arial"/>
                <a:cs typeface="Arial"/>
              </a:rPr>
              <a:t>90.94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B15581-A4FC-4A50-9BCD-51F1E72B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289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average score / 100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344BD2-B6A5-4541-A4AA-DC8DBCA80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238375"/>
            <a:ext cx="1809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89E7DE-3EDA-4FA4-B137-1FAC2B95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09825"/>
            <a:ext cx="1428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B9B6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4B9B6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115721-C6CA-4B1B-BCA1-EF28B18F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8289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perfect images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909E54-E6AA-4AA7-95A0-D57E9A93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38375"/>
            <a:ext cx="1809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E73316-E9AF-430F-82B0-ACFB6C7D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409825"/>
            <a:ext cx="1428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FBBC0E-6735-4FAF-837C-14E03AC9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8289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validation images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4F6432-2534-4E7E-88E4-D9FC18FE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eval_001384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728A9D-243B-4E97-8D6A-61A72246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38600"/>
            <a:ext cx="4095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6"/>
          </a:solidFill>
          <a:ln xmlns:a="http://schemas.openxmlformats.org/drawingml/2006/main" w="9525">
            <a:solidFill>
              <a:srgbClr val="E8EEF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F59ED8-F5BF-4D66-9145-34A03693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38600"/>
            <a:ext cx="4095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9B68"/>
          </a:solidFill>
          <a:ln xmlns:a="http://schemas.openxmlformats.org/drawingml/2006/main" w="9525">
            <a:solidFill>
              <a:srgbClr val="4B9B6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DF40DA-6B21-4617-899D-5F1AD7B3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90975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B9B6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B9B68"/>
                </a:solidFill>
                <a:latin typeface="Arial"/>
                <a:ea typeface="Arial"/>
                <a:cs typeface="Arial"/>
              </a:rPr>
              <a:t>100.00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A5069E-BCB1-467D-9C35-A3544B71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eval_001391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B6A106-40E4-4F90-92BC-A193BD359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438650"/>
            <a:ext cx="4095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6"/>
          </a:solidFill>
          <a:ln xmlns:a="http://schemas.openxmlformats.org/drawingml/2006/main" w="9525">
            <a:solidFill>
              <a:srgbClr val="E8EEF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B5B836-F4AC-40B5-B1ED-CE48AA7B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438650"/>
            <a:ext cx="3412988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8A32"/>
          </a:solidFill>
          <a:ln xmlns:a="http://schemas.openxmlformats.org/drawingml/2006/main" w="9525">
            <a:solidFill>
              <a:srgbClr val="E28A32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3F37F9-BCBE-47BE-99C2-369FB61D1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391025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28A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28A32"/>
                </a:solidFill>
                <a:latin typeface="Arial"/>
                <a:ea typeface="Arial"/>
                <a:cs typeface="Arial"/>
              </a:rPr>
              <a:t>83.33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5B7864-7474-4BF3-BF8B-00F721FBF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val_1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F1636C-A140-4AA9-ACF7-472A1094A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838700"/>
            <a:ext cx="4095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6"/>
          </a:solidFill>
          <a:ln xmlns:a="http://schemas.openxmlformats.org/drawingml/2006/main" w="9525">
            <a:solidFill>
              <a:srgbClr val="E8EEF6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40427E-30F8-46BB-92B4-65D0C686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838700"/>
            <a:ext cx="307181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8A32"/>
          </a:solidFill>
          <a:ln xmlns:a="http://schemas.openxmlformats.org/drawingml/2006/main" w="9525">
            <a:solidFill>
              <a:srgbClr val="E28A32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76BC1E-549C-46A2-BFF0-DF2F3CB6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791075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28A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28A32"/>
                </a:solidFill>
                <a:latin typeface="Arial"/>
                <a:ea typeface="Arial"/>
                <a:cs typeface="Arial"/>
              </a:rPr>
              <a:t>75.00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CD195E-963D-43A1-AA37-7BBA765A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val_2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28DF05-1605-4B68-89CA-B41C5EC2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238750"/>
            <a:ext cx="4095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6"/>
          </a:solidFill>
          <a:ln xmlns:a="http://schemas.openxmlformats.org/drawingml/2006/main" w="9525">
            <a:solidFill>
              <a:srgbClr val="E8EEF6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B450AF-434A-41AB-AC19-5E927B96C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238750"/>
            <a:ext cx="2525849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F4F"/>
          </a:solidFill>
          <a:ln xmlns:a="http://schemas.openxmlformats.org/drawingml/2006/main" w="9525">
            <a:solidFill>
              <a:srgbClr val="C94F4F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633D18-A5FE-45FE-ADA5-02D64E99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191125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4F4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94F4F"/>
                </a:solidFill>
                <a:latin typeface="Arial"/>
                <a:ea typeface="Arial"/>
                <a:cs typeface="Arial"/>
              </a:rPr>
              <a:t>61.67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A41E2C-54CE-43EB-BAF4-0CE21E28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007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val_9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FEDB71-416D-4D7F-95D7-ECDE1A91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638800"/>
            <a:ext cx="4095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6"/>
          </a:solidFill>
          <a:ln xmlns:a="http://schemas.openxmlformats.org/drawingml/2006/main" w="9525">
            <a:solidFill>
              <a:srgbClr val="E8EEF6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75BAB31-1060-45DB-9FA3-D309162B8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638800"/>
            <a:ext cx="2525849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F4F"/>
          </a:solidFill>
          <a:ln xmlns:a="http://schemas.openxmlformats.org/drawingml/2006/main" w="9525">
            <a:solidFill>
              <a:srgbClr val="C94F4F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81C3FD-D947-4028-A63D-7F623316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591175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4F4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94F4F"/>
                </a:solidFill>
                <a:latin typeface="Arial"/>
                <a:ea typeface="Arial"/>
                <a:cs typeface="Arial"/>
              </a:rPr>
              <a:t>61.67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E2F356-4934-44CA-81B5-B0CDBA9B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Main deductions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D8B262-356A-4538-B92F-6A197946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AF17DD-51E2-4A63-BA3E-C65F5080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876550"/>
            <a:ext cx="2743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val_1: fox was missed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6E71E6-DB59-4785-9314-FC22E0EC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50D7911-02D6-4502-9AF5-E8B59203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76600"/>
            <a:ext cx="2743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val_2 / val_9: duck confused with goose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748FCA-4233-4E69-BB12-2B5749C5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71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F5AAF8-C4DC-4BF7-9C76-93A57FC2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676650"/>
            <a:ext cx="2743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eval_001402: extra horse category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5AA5F7-0A40-4179-BE07-4E687C515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584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AD92FEE-B413-4D6E-8B0B-C10DC418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YOLO11s animal detection and counting | Deep Learning Final Project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7CC3B76-D6EA-4EDE-A614-88A9F71B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6439428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DE133A-7DD3-4357-A475-3D49EDD8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F7F9FC"/>
            </a:solidFill>
          </a:ln>
        </p:spPr>
      </p:sp>
      <p:sp>
        <p:nvSpPr>
          <p:cNvPr id="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4A0E3E8D-1FD9-4BE8-9331-EC69BB24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00EA40C7-AB06-438A-8E4E-D5B17B13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VISUAL OUTPUT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693201-6AF9-42B4-A5C0-34C40D9E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191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Validation images are copied and annotated with boxes and confidence scores.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5319FC-BD62-4DD3-A5F7-D58589A3F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7620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The same post-processing logic is used for both displayed boxes and JSON counts.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15168a15974410"/>
          <a:stretch xmlns:a="http://schemas.openxmlformats.org/drawingml/2006/main"/>
        </p:blipFill>
        <p:spPr>
          <a:xfrm xmlns:a="http://schemas.openxmlformats.org/drawingml/2006/main">
            <a:off x="1362075" y="2047875"/>
            <a:ext cx="3714750" cy="3714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CF9830-19DB-4C7B-BDBF-21407AF9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71700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Post-processing rule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4F8A3A-32E4-4E89-B6B8-F91B7A80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1C9B66-10DA-4349-B474-A4204D43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67000"/>
            <a:ext cx="426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Same-class boxes: merge when overlap or centers are close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5D2ED5-F9C9-4E4B-A94B-58398430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62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678F6A-856E-43B8-BE81-3782D7DC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67050"/>
            <a:ext cx="426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Cross-class boxes: merge only when they likely cover the same object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2F3219-7D1D-4B33-8A9A-80C0A79B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62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A6B8"/>
          </a:solidFill>
          <a:ln xmlns:a="http://schemas.openxmlformats.org/drawingml/2006/main" w="9525">
            <a:solidFill>
              <a:srgbClr val="32A6B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3BB241-3A60-426C-996C-7CB87632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67100"/>
            <a:ext cx="426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Keep the highest-confidence detection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FA3F6D-E471-4831-BD04-D32E1E3A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625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Output directory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8DCCB4-A6FB-4CD1-9240-ADA19284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05400"/>
            <a:ext cx="4476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outputs/val_set_annotated_6sp_20cls_finetuned_suppressed_balanced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FA4E98-1431-4B07-A07E-1F406CA5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584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2E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30E019-1F06-489E-BC73-74638E8E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E6A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E6A7D"/>
                </a:solidFill>
                <a:latin typeface="Arial"/>
                <a:ea typeface="Arial"/>
                <a:cs typeface="Arial"/>
              </a:rPr>
              <a:t>YOLO11s animal detection and counting | Deep Learning Final Project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0B57C9-1382-4D3C-A859-DBA41D542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45A9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45A9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2612673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FEE291-C868-44F7-A1C8-93AF4AB9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0E1A2B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03DE21-7204-4EF6-A34A-F82728E3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4762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Conclusion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6A8FB7-1FF9-4C0C-A499-74C567F4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5900"/>
            <a:ext cx="914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CE8F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CE8F8"/>
                </a:solidFill>
                <a:latin typeface="Arial"/>
                <a:ea typeface="Arial"/>
                <a:cs typeface="Arial"/>
              </a:rPr>
              <a:t>The project delivers a reproducible YOLO-based animal counting system with data preparation, fine-tuning, validation scoring, JSON export, and visual annotation.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AE15AE-9CE4-4FDC-8B6D-E3E1F6EB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42A46"/>
          </a:solidFill>
          <a:ln xmlns:a="http://schemas.openxmlformats.org/drawingml/2006/main" w="9525">
            <a:solidFill>
              <a:srgbClr val="355B8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23E9CC-B98C-4F69-8D47-82ABE528C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6700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42A46"/>
          </a:solidFill>
          <a:ln xmlns:a="http://schemas.openxmlformats.org/drawingml/2006/main" w="9525">
            <a:solidFill>
              <a:srgbClr val="355B8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DB0957-E0B0-4AC4-B6BE-30FCB514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6700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42A46"/>
          </a:solidFill>
          <a:ln xmlns:a="http://schemas.openxmlformats.org/drawingml/2006/main" w="9525">
            <a:solidFill>
              <a:srgbClr val="355B8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B8DA2C-8F9C-49CD-8C52-1AC66F91E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Strength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BF7ABB-A9F5-4190-BB5B-F19B8752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90900"/>
            <a:ext cx="247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CE8F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8F8"/>
                </a:solidFill>
                <a:latin typeface="Arial"/>
                <a:ea typeface="Arial"/>
                <a:cs typeface="Arial"/>
              </a:rPr>
              <a:t>High mAP and strong dictionary-format validation performance across most large and distinctive animal classes.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B91FDA-D4BD-4595-90AD-1ED892CD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908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Limitation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E205E2-FC0B-4F05-B82B-EB01ED4EB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390900"/>
            <a:ext cx="247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CE8F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8F8"/>
                </a:solidFill>
                <a:latin typeface="Arial"/>
                <a:ea typeface="Arial"/>
                <a:cs typeface="Arial"/>
              </a:rPr>
              <a:t>Duck/goose and fox/wolf/dog confusions remain the main source of lost points.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0A8457-5922-476C-B4FE-40D395866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908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 step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7E61FD-9E57-4DDA-99FD-5B677C89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390900"/>
            <a:ext cx="247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CE8F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8F8"/>
                </a:solidFill>
                <a:latin typeface="Arial"/>
                <a:ea typeface="Arial"/>
                <a:cs typeface="Arial"/>
              </a:rPr>
              <a:t>Add more manually verified hard examples and continue targeted fine-tuning with stricter validation review.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7DFEFF-86DC-4150-83C1-C482175F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29300"/>
            <a:ext cx="857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BD2F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BD2F0"/>
                </a:solidFill>
                <a:latin typeface="Arial"/>
                <a:ea typeface="Arial"/>
                <a:cs typeface="Arial"/>
              </a:rPr>
              <a:t>Final deliverables: report, PPT, source code, and evaluation JSON.</a:t>
            </a:r>
          </a:p>
        </p:txBody>
      </p:sp>
    </p:spTree>
    <p:extLst>
      <p:ext uri="{BB962C8B-B14F-4D97-AF65-F5344CB8AC3E}">
        <p14:creationId xmlns:p14="http://schemas.microsoft.com/office/powerpoint/2010/main" val="3800365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2026-06-12T19:20:58.2310000Z</dcterms:created>
  <dcterms:modified xsi:type="dcterms:W3CDTF">2026-06-12T19:20:58.2310000Z</dcterms:modified>
</coreProperties>
</file>